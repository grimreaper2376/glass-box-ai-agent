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1"/>
        </a:solidFill>
      </p:bgPr>
    </p:bg>
    <p:spTree>
      <p:nvGrpSpPr>
        <p:cNvPr id="1" name=""/>
        <p:cNvGrpSpPr/>
        <p:nvPr/>
      </p:nvGrpSpPr>
      <p:grpSpPr>
        <a:xfrm>
          <a:off x="0" y="0"/>
          <a:ext cx="0" cy="0"/>
          <a:chOff x="0" y="0"/>
          <a:chExt cx="0" cy="0"/>
        </a:xfrm>
      </p:grpSpPr>
      <p:sp>
        <p:nvSpPr>
          <p:cNvPr id="2" name="Shape 0"/>
          <p:cNvSpPr/>
          <p:nvPr/>
        </p:nvSpPr>
        <p:spPr>
          <a:xfrm rot="2700000">
            <a:off x="457200" y="1371600"/>
            <a:ext cx="640080" cy="640080"/>
          </a:xfrm>
          <a:prstGeom prst="ellipse">
            <a:avLst/>
          </a:prstGeom>
          <a:solidFill>
            <a:srgbClr val="FCD535"/>
          </a:solidFill>
          <a:ln/>
        </p:spPr>
      </p:sp>
      <p:sp>
        <p:nvSpPr>
          <p:cNvPr id="3" name="Text 1"/>
          <p:cNvSpPr txBox="1"/>
          <p:nvPr/>
        </p:nvSpPr>
        <p:spPr>
          <a:xfrm>
            <a:off x="457200" y="2148840"/>
            <a:ext cx="10972800" cy="1051560"/>
          </a:xfrm>
          <a:prstGeom prst="rect">
            <a:avLst/>
          </a:prstGeom>
          <a:noFill/>
          <a:ln/>
        </p:spPr>
        <p:txBody>
          <a:bodyPr wrap="square" lIns="0" tIns="0" rIns="0" bIns="0" rtlCol="0" anchor="ctr"/>
          <a:lstStyle/>
          <a:p>
            <a:pPr algn="l" indent="0" marL="0">
              <a:buNone/>
            </a:pPr>
            <a:r>
              <a:rPr lang="en-US" sz="7200" b="1" spc="100" kern="0" dirty="0">
                <a:solidFill>
                  <a:srgbClr val="EAECEF"/>
                </a:solidFill>
                <a:latin typeface="Calibri" pitchFamily="34" charset="0"/>
                <a:ea typeface="Calibri" pitchFamily="34" charset="-122"/>
                <a:cs typeface="Calibri" pitchFamily="34" charset="-120"/>
              </a:rPr>
              <a:t>GLASSBOX</a:t>
            </a:r>
            <a:endParaRPr lang="en-US" sz="7200" dirty="0"/>
          </a:p>
        </p:txBody>
      </p:sp>
      <p:sp>
        <p:nvSpPr>
          <p:cNvPr id="4" name="Text 2"/>
          <p:cNvSpPr txBox="1"/>
          <p:nvPr/>
        </p:nvSpPr>
        <p:spPr>
          <a:xfrm>
            <a:off x="502920" y="3246120"/>
            <a:ext cx="10972800" cy="548640"/>
          </a:xfrm>
          <a:prstGeom prst="rect">
            <a:avLst/>
          </a:prstGeom>
          <a:noFill/>
          <a:ln/>
        </p:spPr>
        <p:txBody>
          <a:bodyPr wrap="square" lIns="0" tIns="0" rIns="0" bIns="0" rtlCol="0" anchor="ctr"/>
          <a:lstStyle/>
          <a:p>
            <a:pPr algn="l" indent="0" marL="0">
              <a:buNone/>
            </a:pPr>
            <a:r>
              <a:rPr lang="en-US" sz="2400" dirty="0">
                <a:solidFill>
                  <a:srgbClr val="FCD535"/>
                </a:solidFill>
                <a:latin typeface="Calibri" pitchFamily="34" charset="0"/>
                <a:ea typeface="Calibri" pitchFamily="34" charset="-122"/>
                <a:cs typeface="Calibri" pitchFamily="34" charset="-120"/>
              </a:rPr>
              <a:t>A crypto trading agent you can actually trust.</a:t>
            </a:r>
            <a:endParaRPr lang="en-US" sz="2400" dirty="0"/>
          </a:p>
        </p:txBody>
      </p:sp>
      <p:sp>
        <p:nvSpPr>
          <p:cNvPr id="5" name="Text 3"/>
          <p:cNvSpPr txBox="1"/>
          <p:nvPr/>
        </p:nvSpPr>
        <p:spPr>
          <a:xfrm>
            <a:off x="502920" y="3886200"/>
            <a:ext cx="8778240" cy="914400"/>
          </a:xfrm>
          <a:prstGeom prst="rect">
            <a:avLst/>
          </a:prstGeom>
          <a:noFill/>
          <a:ln/>
        </p:spPr>
        <p:txBody>
          <a:bodyPr wrap="square" lIns="0" tIns="0" rIns="0" bIns="0" rtlCol="0" anchor="ctr"/>
          <a:lstStyle/>
          <a:p>
            <a:pPr algn="l" indent="0" marL="0">
              <a:lnSpc>
                <a:spcPct val="115000"/>
              </a:lnSpc>
              <a:buNone/>
            </a:pPr>
            <a:r>
              <a:rPr lang="en-US" sz="1550" dirty="0">
                <a:solidFill>
                  <a:srgbClr val="AEB6C0"/>
                </a:solidFill>
                <a:latin typeface="Calibri" pitchFamily="34" charset="0"/>
                <a:ea typeface="Calibri" pitchFamily="34" charset="-122"/>
                <a:cs typeface="Calibri" pitchFamily="34" charset="-120"/>
              </a:rPr>
              <a:t>Five AI analysts debate every move. A rulebook and a safety guard can overrule them. Every decision is signed and logged, so you can see exactly what it did — and why.</a:t>
            </a:r>
            <a:endParaRPr lang="en-US" sz="1550" dirty="0"/>
          </a:p>
        </p:txBody>
      </p:sp>
      <p:sp>
        <p:nvSpPr>
          <p:cNvPr id="6" name="Text 4"/>
          <p:cNvSpPr txBox="1"/>
          <p:nvPr/>
        </p:nvSpPr>
        <p:spPr>
          <a:xfrm>
            <a:off x="502920" y="5806440"/>
            <a:ext cx="11338560" cy="365760"/>
          </a:xfrm>
          <a:prstGeom prst="rect">
            <a:avLst/>
          </a:prstGeom>
          <a:noFill/>
          <a:ln/>
        </p:spPr>
        <p:txBody>
          <a:bodyPr wrap="square" lIns="0" tIns="0" rIns="0" bIns="0" rtlCol="0" anchor="ctr"/>
          <a:lstStyle/>
          <a:p>
            <a:pPr algn="l" indent="0" marL="0">
              <a:buNone/>
            </a:pPr>
            <a:r>
              <a:rPr lang="en-US" sz="1250" b="1" dirty="0">
                <a:solidFill>
                  <a:srgbClr val="EAECEF"/>
                </a:solidFill>
                <a:latin typeface="Calibri" pitchFamily="34" charset="0"/>
                <a:ea typeface="Calibri" pitchFamily="34" charset="-122"/>
                <a:cs typeface="Calibri" pitchFamily="34" charset="-120"/>
              </a:rPr>
              <a:t>Binance Agent OS hackathon</a:t>
            </a:r>
            <a:pPr algn="l" indent="0" marL="0">
              <a:buNone/>
            </a:pPr>
            <a:r>
              <a:rPr lang="en-US" sz="1250" dirty="0">
                <a:solidFill>
                  <a:srgbClr val="FCD535"/>
                </a:solidFill>
                <a:latin typeface="Calibri" pitchFamily="34" charset="0"/>
                <a:ea typeface="Calibri" pitchFamily="34" charset="-122"/>
                <a:cs typeface="Calibri" pitchFamily="34" charset="-120"/>
              </a:rPr>
              <a:t>   ·   20,000 USDC prize pool   ·   </a:t>
            </a:r>
            <a:pPr algn="l" indent="0" marL="0">
              <a:buNone/>
            </a:pPr>
            <a:r>
              <a:rPr lang="en-US" sz="1250" dirty="0">
                <a:solidFill>
                  <a:srgbClr val="7A828C"/>
                </a:solidFill>
                <a:latin typeface="Calibri" pitchFamily="34" charset="0"/>
                <a:ea typeface="Calibri" pitchFamily="34" charset="-122"/>
                <a:cs typeface="Calibri" pitchFamily="34" charset="-120"/>
              </a:rPr>
              <a:t>runs in safe paper mode out of the box, no exchange keys required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AI trading agents are black boxes.</a:t>
            </a:r>
            <a:endParaRPr lang="en-US" sz="3800" dirty="0"/>
          </a:p>
        </p:txBody>
      </p:sp>
      <p:sp>
        <p:nvSpPr>
          <p:cNvPr id="6" name="Text 4"/>
          <p:cNvSpPr txBox="1"/>
          <p:nvPr/>
        </p:nvSpPr>
        <p:spPr>
          <a:xfrm>
            <a:off x="502920" y="1691640"/>
            <a:ext cx="6400800" cy="2011680"/>
          </a:xfrm>
          <a:prstGeom prst="rect">
            <a:avLst/>
          </a:prstGeom>
          <a:noFill/>
          <a:ln/>
        </p:spPr>
        <p:txBody>
          <a:bodyPr wrap="square" lIns="0" tIns="0" rIns="0" bIns="0" rtlCol="0" anchor="ctr"/>
          <a:lstStyle/>
          <a:p>
            <a:pPr algn="l" indent="0" marL="0">
              <a:lnSpc>
                <a:spcPct val="125000"/>
              </a:lnSpc>
              <a:buNone/>
            </a:pPr>
            <a:r>
              <a:rPr lang="en-US" sz="1650" dirty="0">
                <a:solidFill>
                  <a:srgbClr val="AEB6C0"/>
                </a:solidFill>
                <a:latin typeface="Calibri" pitchFamily="34" charset="0"/>
                <a:ea typeface="Calibri" pitchFamily="34" charset="-122"/>
                <a:cs typeface="Calibri" pitchFamily="34" charset="-120"/>
              </a:rPr>
              <a:t>Most autonomous trading agents will happily move real money — but they can't show you why they made a trade, they have no hard limits you can trust, and they keep no record you can't quietly edit afterwards. For a platform that wants to let agents trade on people's behalf, that's the whole problem.</a:t>
            </a:r>
            <a:endParaRPr lang="en-US" sz="1650" dirty="0"/>
          </a:p>
        </p:txBody>
      </p:sp>
      <p:sp>
        <p:nvSpPr>
          <p:cNvPr id="7" name="Shape 5"/>
          <p:cNvSpPr/>
          <p:nvPr/>
        </p:nvSpPr>
        <p:spPr>
          <a:xfrm>
            <a:off x="502920" y="3977640"/>
            <a:ext cx="6400800" cy="2148840"/>
          </a:xfrm>
          <a:prstGeom prst="roundRect">
            <a:avLst>
              <a:gd name="adj" fmla="val 5106"/>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822960" y="4206240"/>
            <a:ext cx="5760720" cy="1691640"/>
          </a:xfrm>
          <a:prstGeom prst="rect">
            <a:avLst/>
          </a:prstGeom>
          <a:noFill/>
          <a:ln/>
        </p:spPr>
        <p:txBody>
          <a:bodyPr wrap="square" lIns="0" tIns="0" rIns="0" bIns="0" rtlCol="0" anchor="ctr"/>
          <a:lstStyle/>
          <a:p>
            <a:pPr algn="l" indent="0" marL="0">
              <a:lnSpc>
                <a:spcPct val="120000"/>
              </a:lnSpc>
              <a:buNone/>
            </a:pPr>
            <a:r>
              <a:rPr lang="en-US" sz="1900" i="1" dirty="0">
                <a:solidFill>
                  <a:srgbClr val="EAECEF"/>
                </a:solidFill>
                <a:latin typeface="Calibri" pitchFamily="34" charset="0"/>
                <a:ea typeface="Calibri" pitchFamily="34" charset="-122"/>
                <a:cs typeface="Calibri" pitchFamily="34" charset="-120"/>
              </a:rPr>
              <a:t>“Would you let a stranger trade your savings, never explain a single decision, and hand you a logbook they can rewrite?”</a:t>
            </a:r>
            <a:endParaRPr lang="en-US" sz="1900" dirty="0"/>
          </a:p>
        </p:txBody>
      </p:sp>
      <p:sp>
        <p:nvSpPr>
          <p:cNvPr id="9" name="Shape 7"/>
          <p:cNvSpPr/>
          <p:nvPr/>
        </p:nvSpPr>
        <p:spPr>
          <a:xfrm>
            <a:off x="7315200" y="1691640"/>
            <a:ext cx="4343400" cy="1298448"/>
          </a:xfrm>
          <a:prstGeom prst="roundRect">
            <a:avLst>
              <a:gd name="adj" fmla="val 8451"/>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7589520" y="1984248"/>
            <a:ext cx="109728" cy="713232"/>
          </a:xfrm>
          <a:prstGeom prst="roundRect">
            <a:avLst>
              <a:gd name="adj" fmla="val 50000"/>
            </a:avLst>
          </a:prstGeom>
          <a:solidFill>
            <a:srgbClr val="F6465D"/>
          </a:solidFill>
          <a:ln/>
        </p:spPr>
      </p:sp>
      <p:sp>
        <p:nvSpPr>
          <p:cNvPr id="11" name="Text 9"/>
          <p:cNvSpPr txBox="1"/>
          <p:nvPr/>
        </p:nvSpPr>
        <p:spPr>
          <a:xfrm>
            <a:off x="7863840" y="1911096"/>
            <a:ext cx="3566160" cy="365760"/>
          </a:xfrm>
          <a:prstGeom prst="rect">
            <a:avLst/>
          </a:prstGeom>
          <a:noFill/>
          <a:ln/>
        </p:spPr>
        <p:txBody>
          <a:bodyPr wrap="square" lIns="0" tIns="0" rIns="0" bIns="0" rtlCol="0" anchor="ctr"/>
          <a:lstStyle/>
          <a:p>
            <a:pPr algn="l" indent="0" marL="0">
              <a:buNone/>
            </a:pPr>
            <a:r>
              <a:rPr lang="en-US" sz="1800" b="1" dirty="0">
                <a:solidFill>
                  <a:srgbClr val="EAECEF"/>
                </a:solidFill>
                <a:latin typeface="Calibri" pitchFamily="34" charset="0"/>
                <a:ea typeface="Calibri" pitchFamily="34" charset="-122"/>
                <a:cs typeface="Calibri" pitchFamily="34" charset="-120"/>
              </a:rPr>
              <a:t>No visibility</a:t>
            </a:r>
            <a:endParaRPr lang="en-US" sz="1800" dirty="0"/>
          </a:p>
        </p:txBody>
      </p:sp>
      <p:sp>
        <p:nvSpPr>
          <p:cNvPr id="12" name="Text 10"/>
          <p:cNvSpPr txBox="1"/>
          <p:nvPr/>
        </p:nvSpPr>
        <p:spPr>
          <a:xfrm>
            <a:off x="7863840" y="2313432"/>
            <a:ext cx="3611880" cy="548640"/>
          </a:xfrm>
          <a:prstGeom prst="rect">
            <a:avLst/>
          </a:prstGeom>
          <a:noFill/>
          <a:ln/>
        </p:spPr>
        <p:txBody>
          <a:bodyPr wrap="square" lIns="0" tIns="0" rIns="0" bIns="0" rtlCol="0" anchor="ctr"/>
          <a:lstStyle/>
          <a:p>
            <a:pPr algn="l" indent="0" marL="0">
              <a:lnSpc>
                <a:spcPct val="110000"/>
              </a:lnSpc>
              <a:buNone/>
            </a:pPr>
            <a:r>
              <a:rPr lang="en-US" sz="1350" dirty="0">
                <a:solidFill>
                  <a:srgbClr val="AEB6C0"/>
                </a:solidFill>
                <a:latin typeface="Calibri" pitchFamily="34" charset="0"/>
                <a:ea typeface="Calibri" pitchFamily="34" charset="-122"/>
                <a:cs typeface="Calibri" pitchFamily="34" charset="-120"/>
              </a:rPr>
              <a:t>You can't see the reasoning behind a trade.</a:t>
            </a:r>
            <a:endParaRPr lang="en-US" sz="1350" dirty="0"/>
          </a:p>
        </p:txBody>
      </p:sp>
      <p:sp>
        <p:nvSpPr>
          <p:cNvPr id="13" name="Shape 11"/>
          <p:cNvSpPr/>
          <p:nvPr/>
        </p:nvSpPr>
        <p:spPr>
          <a:xfrm>
            <a:off x="7315200" y="3182112"/>
            <a:ext cx="4343400" cy="1298448"/>
          </a:xfrm>
          <a:prstGeom prst="roundRect">
            <a:avLst>
              <a:gd name="adj" fmla="val 8451"/>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7589520" y="3474720"/>
            <a:ext cx="109728" cy="713232"/>
          </a:xfrm>
          <a:prstGeom prst="roundRect">
            <a:avLst>
              <a:gd name="adj" fmla="val 50000"/>
            </a:avLst>
          </a:prstGeom>
          <a:solidFill>
            <a:srgbClr val="F6465D"/>
          </a:solidFill>
          <a:ln/>
        </p:spPr>
      </p:sp>
      <p:sp>
        <p:nvSpPr>
          <p:cNvPr id="15" name="Text 13"/>
          <p:cNvSpPr txBox="1"/>
          <p:nvPr/>
        </p:nvSpPr>
        <p:spPr>
          <a:xfrm>
            <a:off x="7863840" y="3401568"/>
            <a:ext cx="3566160" cy="365760"/>
          </a:xfrm>
          <a:prstGeom prst="rect">
            <a:avLst/>
          </a:prstGeom>
          <a:noFill/>
          <a:ln/>
        </p:spPr>
        <p:txBody>
          <a:bodyPr wrap="square" lIns="0" tIns="0" rIns="0" bIns="0" rtlCol="0" anchor="ctr"/>
          <a:lstStyle/>
          <a:p>
            <a:pPr algn="l" indent="0" marL="0">
              <a:buNone/>
            </a:pPr>
            <a:r>
              <a:rPr lang="en-US" sz="1800" b="1" dirty="0">
                <a:solidFill>
                  <a:srgbClr val="EAECEF"/>
                </a:solidFill>
                <a:latin typeface="Calibri" pitchFamily="34" charset="0"/>
                <a:ea typeface="Calibri" pitchFamily="34" charset="-122"/>
                <a:cs typeface="Calibri" pitchFamily="34" charset="-120"/>
              </a:rPr>
              <a:t>No hard limits</a:t>
            </a:r>
            <a:endParaRPr lang="en-US" sz="1800" dirty="0"/>
          </a:p>
        </p:txBody>
      </p:sp>
      <p:sp>
        <p:nvSpPr>
          <p:cNvPr id="16" name="Text 14"/>
          <p:cNvSpPr txBox="1"/>
          <p:nvPr/>
        </p:nvSpPr>
        <p:spPr>
          <a:xfrm>
            <a:off x="7863840" y="3803904"/>
            <a:ext cx="3611880" cy="548640"/>
          </a:xfrm>
          <a:prstGeom prst="rect">
            <a:avLst/>
          </a:prstGeom>
          <a:noFill/>
          <a:ln/>
        </p:spPr>
        <p:txBody>
          <a:bodyPr wrap="square" lIns="0" tIns="0" rIns="0" bIns="0" rtlCol="0" anchor="ctr"/>
          <a:lstStyle/>
          <a:p>
            <a:pPr algn="l" indent="0" marL="0">
              <a:lnSpc>
                <a:spcPct val="110000"/>
              </a:lnSpc>
              <a:buNone/>
            </a:pPr>
            <a:r>
              <a:rPr lang="en-US" sz="1350" dirty="0">
                <a:solidFill>
                  <a:srgbClr val="AEB6C0"/>
                </a:solidFill>
                <a:latin typeface="Calibri" pitchFamily="34" charset="0"/>
                <a:ea typeface="Calibri" pitchFamily="34" charset="-122"/>
                <a:cs typeface="Calibri" pitchFamily="34" charset="-120"/>
              </a:rPr>
              <a:t>Nothing it can't override when it matters.</a:t>
            </a:r>
            <a:endParaRPr lang="en-US" sz="1350" dirty="0"/>
          </a:p>
        </p:txBody>
      </p:sp>
      <p:sp>
        <p:nvSpPr>
          <p:cNvPr id="17" name="Shape 15"/>
          <p:cNvSpPr/>
          <p:nvPr/>
        </p:nvSpPr>
        <p:spPr>
          <a:xfrm>
            <a:off x="7315200" y="4672584"/>
            <a:ext cx="4343400" cy="1298448"/>
          </a:xfrm>
          <a:prstGeom prst="roundRect">
            <a:avLst>
              <a:gd name="adj" fmla="val 8451"/>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8" name="Shape 16"/>
          <p:cNvSpPr/>
          <p:nvPr/>
        </p:nvSpPr>
        <p:spPr>
          <a:xfrm>
            <a:off x="7589520" y="4965192"/>
            <a:ext cx="109728" cy="713232"/>
          </a:xfrm>
          <a:prstGeom prst="roundRect">
            <a:avLst>
              <a:gd name="adj" fmla="val 50000"/>
            </a:avLst>
          </a:prstGeom>
          <a:solidFill>
            <a:srgbClr val="F6465D"/>
          </a:solidFill>
          <a:ln/>
        </p:spPr>
      </p:sp>
      <p:sp>
        <p:nvSpPr>
          <p:cNvPr id="19" name="Text 17"/>
          <p:cNvSpPr txBox="1"/>
          <p:nvPr/>
        </p:nvSpPr>
        <p:spPr>
          <a:xfrm>
            <a:off x="7863840" y="4892040"/>
            <a:ext cx="3566160" cy="365760"/>
          </a:xfrm>
          <a:prstGeom prst="rect">
            <a:avLst/>
          </a:prstGeom>
          <a:noFill/>
          <a:ln/>
        </p:spPr>
        <p:txBody>
          <a:bodyPr wrap="square" lIns="0" tIns="0" rIns="0" bIns="0" rtlCol="0" anchor="ctr"/>
          <a:lstStyle/>
          <a:p>
            <a:pPr algn="l" indent="0" marL="0">
              <a:buNone/>
            </a:pPr>
            <a:r>
              <a:rPr lang="en-US" sz="1800" b="1" dirty="0">
                <a:solidFill>
                  <a:srgbClr val="EAECEF"/>
                </a:solidFill>
                <a:latin typeface="Calibri" pitchFamily="34" charset="0"/>
                <a:ea typeface="Calibri" pitchFamily="34" charset="-122"/>
                <a:cs typeface="Calibri" pitchFamily="34" charset="-120"/>
              </a:rPr>
              <a:t>No proof</a:t>
            </a:r>
            <a:endParaRPr lang="en-US" sz="1800" dirty="0"/>
          </a:p>
        </p:txBody>
      </p:sp>
      <p:sp>
        <p:nvSpPr>
          <p:cNvPr id="20" name="Text 18"/>
          <p:cNvSpPr txBox="1"/>
          <p:nvPr/>
        </p:nvSpPr>
        <p:spPr>
          <a:xfrm>
            <a:off x="7863840" y="5294376"/>
            <a:ext cx="3611880" cy="548640"/>
          </a:xfrm>
          <a:prstGeom prst="rect">
            <a:avLst/>
          </a:prstGeom>
          <a:noFill/>
          <a:ln/>
        </p:spPr>
        <p:txBody>
          <a:bodyPr wrap="square" lIns="0" tIns="0" rIns="0" bIns="0" rtlCol="0" anchor="ctr"/>
          <a:lstStyle/>
          <a:p>
            <a:pPr algn="l" indent="0" marL="0">
              <a:lnSpc>
                <a:spcPct val="110000"/>
              </a:lnSpc>
              <a:buNone/>
            </a:pPr>
            <a:r>
              <a:rPr lang="en-US" sz="1350" dirty="0">
                <a:solidFill>
                  <a:srgbClr val="AEB6C0"/>
                </a:solidFill>
                <a:latin typeface="Calibri" pitchFamily="34" charset="0"/>
                <a:ea typeface="Calibri" pitchFamily="34" charset="-122"/>
                <a:cs typeface="Calibri" pitchFamily="34" charset="-120"/>
              </a:rPr>
              <a:t>Records that can be edited aren't evidence.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WHAT IT IS</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 trading agent with its reasoning on the outside.</a:t>
            </a:r>
            <a:endParaRPr lang="en-US" sz="3800" dirty="0"/>
          </a:p>
        </p:txBody>
      </p:sp>
      <p:sp>
        <p:nvSpPr>
          <p:cNvPr id="6" name="Text 4"/>
          <p:cNvSpPr txBox="1"/>
          <p:nvPr/>
        </p:nvSpPr>
        <p:spPr>
          <a:xfrm>
            <a:off x="502920" y="1645920"/>
            <a:ext cx="5577840" cy="2103120"/>
          </a:xfrm>
          <a:prstGeom prst="rect">
            <a:avLst/>
          </a:prstGeom>
          <a:noFill/>
          <a:ln/>
        </p:spPr>
        <p:txBody>
          <a:bodyPr wrap="square" lIns="0" tIns="0" rIns="0" bIns="0" rtlCol="0" anchor="ctr"/>
          <a:lstStyle/>
          <a:p>
            <a:pPr algn="l" indent="0" marL="0">
              <a:lnSpc>
                <a:spcPct val="125000"/>
              </a:lnSpc>
              <a:buNone/>
            </a:pPr>
            <a:r>
              <a:rPr lang="en-US" sz="1600" dirty="0">
                <a:solidFill>
                  <a:srgbClr val="AEB6C0"/>
                </a:solidFill>
                <a:latin typeface="Calibri" pitchFamily="34" charset="0"/>
                <a:ea typeface="Calibri" pitchFamily="34" charset="-122"/>
                <a:cs typeface="Calibri" pitchFamily="34" charset="-120"/>
              </a:rPr>
              <a:t>GlassBox trades crypto on live Binance data. What makes it different is that the safety and the explanation aren't bolted on afterwards — they sit at the centre. You watch it think, you set the rules it can't break, and you get a signed receipt for everything.</a:t>
            </a:r>
            <a:endParaRPr lang="en-US" sz="1600" dirty="0"/>
          </a:p>
        </p:txBody>
      </p:sp>
      <p:sp>
        <p:nvSpPr>
          <p:cNvPr id="7" name="Shape 5"/>
          <p:cNvSpPr/>
          <p:nvPr/>
        </p:nvSpPr>
        <p:spPr>
          <a:xfrm>
            <a:off x="502920" y="4014216"/>
            <a:ext cx="237744" cy="237744"/>
          </a:xfrm>
          <a:prstGeom prst="roundRect">
            <a:avLst>
              <a:gd name="adj" fmla="val 19231"/>
            </a:avLst>
          </a:prstGeom>
          <a:solidFill>
            <a:srgbClr val="FCD535"/>
          </a:solidFill>
          <a:ln/>
        </p:spPr>
      </p:sp>
      <p:sp>
        <p:nvSpPr>
          <p:cNvPr id="8" name="Text 6"/>
          <p:cNvSpPr txBox="1"/>
          <p:nvPr/>
        </p:nvSpPr>
        <p:spPr>
          <a:xfrm>
            <a:off x="914400" y="3831336"/>
            <a:ext cx="5166360" cy="548640"/>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See it think.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every analyst’s view, in plain language</a:t>
            </a:r>
            <a:endParaRPr lang="en-US" sz="1450" dirty="0"/>
          </a:p>
        </p:txBody>
      </p:sp>
      <p:sp>
        <p:nvSpPr>
          <p:cNvPr id="9" name="Shape 7"/>
          <p:cNvSpPr/>
          <p:nvPr/>
        </p:nvSpPr>
        <p:spPr>
          <a:xfrm>
            <a:off x="502920" y="4672584"/>
            <a:ext cx="237744" cy="237744"/>
          </a:xfrm>
          <a:prstGeom prst="roundRect">
            <a:avLst>
              <a:gd name="adj" fmla="val 19231"/>
            </a:avLst>
          </a:prstGeom>
          <a:solidFill>
            <a:srgbClr val="0ECB81"/>
          </a:solidFill>
          <a:ln/>
        </p:spPr>
      </p:sp>
      <p:sp>
        <p:nvSpPr>
          <p:cNvPr id="10" name="Text 8"/>
          <p:cNvSpPr txBox="1"/>
          <p:nvPr/>
        </p:nvSpPr>
        <p:spPr>
          <a:xfrm>
            <a:off x="914400" y="4489704"/>
            <a:ext cx="5166360" cy="548640"/>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Set the guardrails.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hard rules the AI cannot argue with</a:t>
            </a:r>
            <a:endParaRPr lang="en-US" sz="1450" dirty="0"/>
          </a:p>
        </p:txBody>
      </p:sp>
      <p:sp>
        <p:nvSpPr>
          <p:cNvPr id="11" name="Shape 9"/>
          <p:cNvSpPr/>
          <p:nvPr/>
        </p:nvSpPr>
        <p:spPr>
          <a:xfrm>
            <a:off x="502920" y="5330952"/>
            <a:ext cx="237744" cy="237744"/>
          </a:xfrm>
          <a:prstGeom prst="roundRect">
            <a:avLst>
              <a:gd name="adj" fmla="val 19231"/>
            </a:avLst>
          </a:prstGeom>
          <a:solidFill>
            <a:srgbClr val="FCD535"/>
          </a:solidFill>
          <a:ln/>
        </p:spPr>
      </p:sp>
      <p:sp>
        <p:nvSpPr>
          <p:cNvPr id="12" name="Text 10"/>
          <p:cNvSpPr txBox="1"/>
          <p:nvPr/>
        </p:nvSpPr>
        <p:spPr>
          <a:xfrm>
            <a:off x="914400" y="5148072"/>
            <a:ext cx="5166360" cy="548640"/>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Keep the proof.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a tamper-evident log of every decision</a:t>
            </a:r>
            <a:endParaRPr lang="en-US" sz="1450" dirty="0"/>
          </a:p>
        </p:txBody>
      </p:sp>
      <p:sp>
        <p:nvSpPr>
          <p:cNvPr id="13" name="Shape 11"/>
          <p:cNvSpPr/>
          <p:nvPr/>
        </p:nvSpPr>
        <p:spPr>
          <a:xfrm>
            <a:off x="6400800" y="1554480"/>
            <a:ext cx="5303520" cy="4114800"/>
          </a:xfrm>
          <a:prstGeom prst="roundRect">
            <a:avLst>
              <a:gd name="adj" fmla="val 2222"/>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4" name="Image 0" descr="/home/claude/work/glassbox/docs/screenshots/00-zero-config-launch.png">    </p:cNvPr>
          <p:cNvPicPr>
            <a:picLocks noChangeAspect="1"/>
          </p:cNvPicPr>
          <p:nvPr/>
        </p:nvPicPr>
        <p:blipFill>
          <a:blip r:embed="rId1"/>
          <a:srcRect l="0" r="0" t="0" b="0"/>
          <a:stretch/>
        </p:blipFill>
        <p:spPr>
          <a:xfrm>
            <a:off x="6473952" y="1627632"/>
            <a:ext cx="5157216" cy="3968496"/>
          </a:xfrm>
          <a:prstGeom prst="rect">
            <a:avLst/>
          </a:prstGeom>
        </p:spPr>
      </p:pic>
      <p:sp>
        <p:nvSpPr>
          <p:cNvPr id="15" name="Text 12"/>
          <p:cNvSpPr txBox="1"/>
          <p:nvPr/>
        </p:nvSpPr>
        <p:spPr>
          <a:xfrm>
            <a:off x="6400800" y="5742432"/>
            <a:ext cx="5303520" cy="365760"/>
          </a:xfrm>
          <a:prstGeom prst="rect">
            <a:avLst/>
          </a:prstGeom>
          <a:noFill/>
          <a:ln/>
        </p:spPr>
        <p:txBody>
          <a:bodyPr wrap="square" lIns="0" tIns="0" rIns="0" bIns="0" rtlCol="0" anchor="ctr"/>
          <a:lstStyle/>
          <a:p>
            <a:pPr algn="ctr" indent="0" marL="0">
              <a:buNone/>
            </a:pPr>
            <a:r>
              <a:rPr lang="en-US" sz="1150" i="1" dirty="0">
                <a:solidFill>
                  <a:srgbClr val="7A828C"/>
                </a:solidFill>
                <a:latin typeface="Calibri" pitchFamily="34" charset="0"/>
                <a:ea typeface="Calibri" pitchFamily="34" charset="-122"/>
                <a:cs typeface="Calibri" pitchFamily="34" charset="-120"/>
              </a:rPr>
              <a:t>Launches in one step — nothing to configure, no keys to paste.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4</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Every trade passes five checkpoints.</a:t>
            </a:r>
            <a:endParaRPr lang="en-US" sz="3800" dirty="0"/>
          </a:p>
        </p:txBody>
      </p:sp>
      <p:sp>
        <p:nvSpPr>
          <p:cNvPr id="6" name="Shape 4"/>
          <p:cNvSpPr/>
          <p:nvPr/>
        </p:nvSpPr>
        <p:spPr>
          <a:xfrm>
            <a:off x="502920" y="2286000"/>
            <a:ext cx="2084832" cy="2834640"/>
          </a:xfrm>
          <a:prstGeom prst="roundRect">
            <a:avLst>
              <a:gd name="adj" fmla="val 6140"/>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7" name="Shape 5"/>
          <p:cNvSpPr/>
          <p:nvPr/>
        </p:nvSpPr>
        <p:spPr>
          <a:xfrm>
            <a:off x="1271016" y="2606040"/>
            <a:ext cx="548640" cy="548640"/>
          </a:xfrm>
          <a:prstGeom prst="ellipse">
            <a:avLst/>
          </a:prstGeom>
          <a:solidFill>
            <a:srgbClr val="FCD535"/>
          </a:solidFill>
          <a:ln/>
        </p:spPr>
      </p:sp>
      <p:sp>
        <p:nvSpPr>
          <p:cNvPr id="8" name="Text 6"/>
          <p:cNvSpPr txBox="1"/>
          <p:nvPr/>
        </p:nvSpPr>
        <p:spPr>
          <a:xfrm>
            <a:off x="1271016" y="2606040"/>
            <a:ext cx="548640" cy="54864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594360" y="3310128"/>
            <a:ext cx="1901952" cy="457200"/>
          </a:xfrm>
          <a:prstGeom prst="rect">
            <a:avLst/>
          </a:prstGeom>
          <a:noFill/>
          <a:ln/>
        </p:spPr>
        <p:txBody>
          <a:bodyPr wrap="square" lIns="0" tIns="0" rIns="0" bIns="0" rtlCol="0" anchor="ctr"/>
          <a:lstStyle/>
          <a:p>
            <a:pPr algn="ctr" indent="0" marL="0">
              <a:buNone/>
            </a:pPr>
            <a:r>
              <a:rPr lang="en-US" sz="1800" b="1" dirty="0">
                <a:solidFill>
                  <a:srgbClr val="FCD535"/>
                </a:solidFill>
                <a:latin typeface="Calibri" pitchFamily="34" charset="0"/>
                <a:ea typeface="Calibri" pitchFamily="34" charset="-122"/>
                <a:cs typeface="Calibri" pitchFamily="34" charset="-120"/>
              </a:rPr>
              <a:t>Watch</a:t>
            </a:r>
            <a:endParaRPr lang="en-US" sz="1800" dirty="0"/>
          </a:p>
        </p:txBody>
      </p:sp>
      <p:sp>
        <p:nvSpPr>
          <p:cNvPr id="10" name="Text 8"/>
          <p:cNvSpPr txBox="1"/>
          <p:nvPr/>
        </p:nvSpPr>
        <p:spPr>
          <a:xfrm>
            <a:off x="667512" y="3794760"/>
            <a:ext cx="1755648" cy="1143000"/>
          </a:xfrm>
          <a:prstGeom prst="rect">
            <a:avLst/>
          </a:prstGeom>
          <a:noFill/>
          <a:ln/>
        </p:spPr>
        <p:txBody>
          <a:bodyPr wrap="square" lIns="0" tIns="0" rIns="0" bIns="0" rtlCol="0" anchor="t"/>
          <a:lstStyle/>
          <a:p>
            <a:pPr algn="ctr" indent="0" marL="0">
              <a:lnSpc>
                <a:spcPct val="115000"/>
              </a:lnSpc>
              <a:buNone/>
            </a:pPr>
            <a:r>
              <a:rPr lang="en-US" sz="1300" dirty="0">
                <a:solidFill>
                  <a:srgbClr val="AEB6C0"/>
                </a:solidFill>
                <a:latin typeface="Calibri" pitchFamily="34" charset="0"/>
                <a:ea typeface="Calibri" pitchFamily="34" charset="-122"/>
                <a:cs typeface="Calibri" pitchFamily="34" charset="-120"/>
              </a:rPr>
              <a:t>Reads live Binance prices, order books and trades.</a:t>
            </a:r>
            <a:endParaRPr lang="en-US" sz="1300" dirty="0"/>
          </a:p>
        </p:txBody>
      </p:sp>
      <p:sp>
        <p:nvSpPr>
          <p:cNvPr id="11" name="Text 9"/>
          <p:cNvSpPr txBox="1"/>
          <p:nvPr/>
        </p:nvSpPr>
        <p:spPr>
          <a:xfrm>
            <a:off x="2569464" y="3291840"/>
            <a:ext cx="256032" cy="548640"/>
          </a:xfrm>
          <a:prstGeom prst="rect">
            <a:avLst/>
          </a:prstGeom>
          <a:noFill/>
          <a:ln/>
        </p:spPr>
        <p:txBody>
          <a:bodyPr wrap="square" lIns="0" tIns="0" rIns="0" bIns="0" rtlCol="0" anchor="ctr"/>
          <a:lstStyle/>
          <a:p>
            <a:pPr algn="ctr" indent="0" marL="0">
              <a:buNone/>
            </a:pPr>
            <a:r>
              <a:rPr lang="en-US" sz="2400" b="1" dirty="0">
                <a:solidFill>
                  <a:srgbClr val="F0B90B"/>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2807208" y="2286000"/>
            <a:ext cx="2084832" cy="2834640"/>
          </a:xfrm>
          <a:prstGeom prst="roundRect">
            <a:avLst>
              <a:gd name="adj" fmla="val 6140"/>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3575304" y="2606040"/>
            <a:ext cx="548640" cy="548640"/>
          </a:xfrm>
          <a:prstGeom prst="ellipse">
            <a:avLst/>
          </a:prstGeom>
          <a:solidFill>
            <a:srgbClr val="FCD535"/>
          </a:solidFill>
          <a:ln/>
        </p:spPr>
      </p:sp>
      <p:sp>
        <p:nvSpPr>
          <p:cNvPr id="14" name="Text 12"/>
          <p:cNvSpPr txBox="1"/>
          <p:nvPr/>
        </p:nvSpPr>
        <p:spPr>
          <a:xfrm>
            <a:off x="3575304" y="2606040"/>
            <a:ext cx="548640" cy="54864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2898648" y="3310128"/>
            <a:ext cx="1901952" cy="457200"/>
          </a:xfrm>
          <a:prstGeom prst="rect">
            <a:avLst/>
          </a:prstGeom>
          <a:noFill/>
          <a:ln/>
        </p:spPr>
        <p:txBody>
          <a:bodyPr wrap="square" lIns="0" tIns="0" rIns="0" bIns="0" rtlCol="0" anchor="ctr"/>
          <a:lstStyle/>
          <a:p>
            <a:pPr algn="ctr" indent="0" marL="0">
              <a:buNone/>
            </a:pPr>
            <a:r>
              <a:rPr lang="en-US" sz="1800" b="1" dirty="0">
                <a:solidFill>
                  <a:srgbClr val="FCD535"/>
                </a:solidFill>
                <a:latin typeface="Calibri" pitchFamily="34" charset="0"/>
                <a:ea typeface="Calibri" pitchFamily="34" charset="-122"/>
                <a:cs typeface="Calibri" pitchFamily="34" charset="-120"/>
              </a:rPr>
              <a:t>Debate</a:t>
            </a:r>
            <a:endParaRPr lang="en-US" sz="1800" dirty="0"/>
          </a:p>
        </p:txBody>
      </p:sp>
      <p:sp>
        <p:nvSpPr>
          <p:cNvPr id="16" name="Text 14"/>
          <p:cNvSpPr txBox="1"/>
          <p:nvPr/>
        </p:nvSpPr>
        <p:spPr>
          <a:xfrm>
            <a:off x="2971800" y="3794760"/>
            <a:ext cx="1755648" cy="1143000"/>
          </a:xfrm>
          <a:prstGeom prst="rect">
            <a:avLst/>
          </a:prstGeom>
          <a:noFill/>
          <a:ln/>
        </p:spPr>
        <p:txBody>
          <a:bodyPr wrap="square" lIns="0" tIns="0" rIns="0" bIns="0" rtlCol="0" anchor="t"/>
          <a:lstStyle/>
          <a:p>
            <a:pPr algn="ctr" indent="0" marL="0">
              <a:lnSpc>
                <a:spcPct val="115000"/>
              </a:lnSpc>
              <a:buNone/>
            </a:pPr>
            <a:r>
              <a:rPr lang="en-US" sz="1300" dirty="0">
                <a:solidFill>
                  <a:srgbClr val="AEB6C0"/>
                </a:solidFill>
                <a:latin typeface="Calibri" pitchFamily="34" charset="0"/>
                <a:ea typeface="Calibri" pitchFamily="34" charset="-122"/>
                <a:cs typeface="Calibri" pitchFamily="34" charset="-120"/>
              </a:rPr>
              <a:t>Five AI analysts weigh in independently.</a:t>
            </a:r>
            <a:endParaRPr lang="en-US" sz="1300" dirty="0"/>
          </a:p>
        </p:txBody>
      </p:sp>
      <p:sp>
        <p:nvSpPr>
          <p:cNvPr id="17" name="Text 15"/>
          <p:cNvSpPr txBox="1"/>
          <p:nvPr/>
        </p:nvSpPr>
        <p:spPr>
          <a:xfrm>
            <a:off x="4873752" y="3291840"/>
            <a:ext cx="256032" cy="548640"/>
          </a:xfrm>
          <a:prstGeom prst="rect">
            <a:avLst/>
          </a:prstGeom>
          <a:noFill/>
          <a:ln/>
        </p:spPr>
        <p:txBody>
          <a:bodyPr wrap="square" lIns="0" tIns="0" rIns="0" bIns="0" rtlCol="0" anchor="ctr"/>
          <a:lstStyle/>
          <a:p>
            <a:pPr algn="ctr" indent="0" marL="0">
              <a:buNone/>
            </a:pPr>
            <a:r>
              <a:rPr lang="en-US" sz="2400" b="1" dirty="0">
                <a:solidFill>
                  <a:srgbClr val="F0B90B"/>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5111496" y="2286000"/>
            <a:ext cx="2084832" cy="2834640"/>
          </a:xfrm>
          <a:prstGeom prst="roundRect">
            <a:avLst>
              <a:gd name="adj" fmla="val 6140"/>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9" name="Shape 17"/>
          <p:cNvSpPr/>
          <p:nvPr/>
        </p:nvSpPr>
        <p:spPr>
          <a:xfrm>
            <a:off x="5879592" y="2606040"/>
            <a:ext cx="548640" cy="548640"/>
          </a:xfrm>
          <a:prstGeom prst="ellipse">
            <a:avLst/>
          </a:prstGeom>
          <a:solidFill>
            <a:srgbClr val="FCD535"/>
          </a:solidFill>
          <a:ln/>
        </p:spPr>
      </p:sp>
      <p:sp>
        <p:nvSpPr>
          <p:cNvPr id="20" name="Text 18"/>
          <p:cNvSpPr txBox="1"/>
          <p:nvPr/>
        </p:nvSpPr>
        <p:spPr>
          <a:xfrm>
            <a:off x="5879592" y="2606040"/>
            <a:ext cx="548640" cy="54864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3</a:t>
            </a:r>
            <a:endParaRPr lang="en-US" sz="1800" dirty="0"/>
          </a:p>
        </p:txBody>
      </p:sp>
      <p:sp>
        <p:nvSpPr>
          <p:cNvPr id="21" name="Text 19"/>
          <p:cNvSpPr txBox="1"/>
          <p:nvPr/>
        </p:nvSpPr>
        <p:spPr>
          <a:xfrm>
            <a:off x="5202936" y="3310128"/>
            <a:ext cx="1901952" cy="457200"/>
          </a:xfrm>
          <a:prstGeom prst="rect">
            <a:avLst/>
          </a:prstGeom>
          <a:noFill/>
          <a:ln/>
        </p:spPr>
        <p:txBody>
          <a:bodyPr wrap="square" lIns="0" tIns="0" rIns="0" bIns="0" rtlCol="0" anchor="ctr"/>
          <a:lstStyle/>
          <a:p>
            <a:pPr algn="ctr" indent="0" marL="0">
              <a:buNone/>
            </a:pPr>
            <a:r>
              <a:rPr lang="en-US" sz="1800" b="1" dirty="0">
                <a:solidFill>
                  <a:srgbClr val="FCD535"/>
                </a:solidFill>
                <a:latin typeface="Calibri" pitchFamily="34" charset="0"/>
                <a:ea typeface="Calibri" pitchFamily="34" charset="-122"/>
                <a:cs typeface="Calibri" pitchFamily="34" charset="-120"/>
              </a:rPr>
              <a:t>Check rules</a:t>
            </a:r>
            <a:endParaRPr lang="en-US" sz="1800" dirty="0"/>
          </a:p>
        </p:txBody>
      </p:sp>
      <p:sp>
        <p:nvSpPr>
          <p:cNvPr id="22" name="Text 20"/>
          <p:cNvSpPr txBox="1"/>
          <p:nvPr/>
        </p:nvSpPr>
        <p:spPr>
          <a:xfrm>
            <a:off x="5276088" y="3794760"/>
            <a:ext cx="1755648" cy="1143000"/>
          </a:xfrm>
          <a:prstGeom prst="rect">
            <a:avLst/>
          </a:prstGeom>
          <a:noFill/>
          <a:ln/>
        </p:spPr>
        <p:txBody>
          <a:bodyPr wrap="square" lIns="0" tIns="0" rIns="0" bIns="0" rtlCol="0" anchor="t"/>
          <a:lstStyle/>
          <a:p>
            <a:pPr algn="ctr" indent="0" marL="0">
              <a:lnSpc>
                <a:spcPct val="115000"/>
              </a:lnSpc>
              <a:buNone/>
            </a:pPr>
            <a:r>
              <a:rPr lang="en-US" sz="1300" dirty="0">
                <a:solidFill>
                  <a:srgbClr val="AEB6C0"/>
                </a:solidFill>
                <a:latin typeface="Calibri" pitchFamily="34" charset="0"/>
                <a:ea typeface="Calibri" pitchFamily="34" charset="-122"/>
                <a:cs typeface="Calibri" pitchFamily="34" charset="-120"/>
              </a:rPr>
              <a:t>A rulebook approves, shrinks or blocks the trade.</a:t>
            </a:r>
            <a:endParaRPr lang="en-US" sz="1300" dirty="0"/>
          </a:p>
        </p:txBody>
      </p:sp>
      <p:sp>
        <p:nvSpPr>
          <p:cNvPr id="23" name="Text 21"/>
          <p:cNvSpPr txBox="1"/>
          <p:nvPr/>
        </p:nvSpPr>
        <p:spPr>
          <a:xfrm>
            <a:off x="7178040" y="3291840"/>
            <a:ext cx="256032" cy="548640"/>
          </a:xfrm>
          <a:prstGeom prst="rect">
            <a:avLst/>
          </a:prstGeom>
          <a:noFill/>
          <a:ln/>
        </p:spPr>
        <p:txBody>
          <a:bodyPr wrap="square" lIns="0" tIns="0" rIns="0" bIns="0" rtlCol="0" anchor="ctr"/>
          <a:lstStyle/>
          <a:p>
            <a:pPr algn="ctr" indent="0" marL="0">
              <a:buNone/>
            </a:pPr>
            <a:r>
              <a:rPr lang="en-US" sz="2400" b="1" dirty="0">
                <a:solidFill>
                  <a:srgbClr val="F0B90B"/>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7415784" y="2286000"/>
            <a:ext cx="2084832" cy="2834640"/>
          </a:xfrm>
          <a:prstGeom prst="roundRect">
            <a:avLst>
              <a:gd name="adj" fmla="val 6140"/>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8183880" y="2606040"/>
            <a:ext cx="548640" cy="548640"/>
          </a:xfrm>
          <a:prstGeom prst="ellipse">
            <a:avLst/>
          </a:prstGeom>
          <a:solidFill>
            <a:srgbClr val="FCD535"/>
          </a:solidFill>
          <a:ln/>
        </p:spPr>
      </p:sp>
      <p:sp>
        <p:nvSpPr>
          <p:cNvPr id="26" name="Text 24"/>
          <p:cNvSpPr txBox="1"/>
          <p:nvPr/>
        </p:nvSpPr>
        <p:spPr>
          <a:xfrm>
            <a:off x="8183880" y="2606040"/>
            <a:ext cx="548640" cy="54864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7507224" y="3310128"/>
            <a:ext cx="1901952" cy="457200"/>
          </a:xfrm>
          <a:prstGeom prst="rect">
            <a:avLst/>
          </a:prstGeom>
          <a:noFill/>
          <a:ln/>
        </p:spPr>
        <p:txBody>
          <a:bodyPr wrap="square" lIns="0" tIns="0" rIns="0" bIns="0" rtlCol="0" anchor="ctr"/>
          <a:lstStyle/>
          <a:p>
            <a:pPr algn="ctr" indent="0" marL="0">
              <a:buNone/>
            </a:pPr>
            <a:r>
              <a:rPr lang="en-US" sz="1800" b="1" dirty="0">
                <a:solidFill>
                  <a:srgbClr val="FCD535"/>
                </a:solidFill>
                <a:latin typeface="Calibri" pitchFamily="34" charset="0"/>
                <a:ea typeface="Calibri" pitchFamily="34" charset="-122"/>
                <a:cs typeface="Calibri" pitchFamily="34" charset="-120"/>
              </a:rPr>
              <a:t>Safety veto</a:t>
            </a:r>
            <a:endParaRPr lang="en-US" sz="1800" dirty="0"/>
          </a:p>
        </p:txBody>
      </p:sp>
      <p:sp>
        <p:nvSpPr>
          <p:cNvPr id="28" name="Text 26"/>
          <p:cNvSpPr txBox="1"/>
          <p:nvPr/>
        </p:nvSpPr>
        <p:spPr>
          <a:xfrm>
            <a:off x="7580376" y="3794760"/>
            <a:ext cx="1755648" cy="1143000"/>
          </a:xfrm>
          <a:prstGeom prst="rect">
            <a:avLst/>
          </a:prstGeom>
          <a:noFill/>
          <a:ln/>
        </p:spPr>
        <p:txBody>
          <a:bodyPr wrap="square" lIns="0" tIns="0" rIns="0" bIns="0" rtlCol="0" anchor="t"/>
          <a:lstStyle/>
          <a:p>
            <a:pPr algn="ctr" indent="0" marL="0">
              <a:lnSpc>
                <a:spcPct val="115000"/>
              </a:lnSpc>
              <a:buNone/>
            </a:pPr>
            <a:r>
              <a:rPr lang="en-US" sz="1300" dirty="0">
                <a:solidFill>
                  <a:srgbClr val="AEB6C0"/>
                </a:solidFill>
                <a:latin typeface="Calibri" pitchFamily="34" charset="0"/>
                <a:ea typeface="Calibri" pitchFamily="34" charset="-122"/>
                <a:cs typeface="Calibri" pitchFamily="34" charset="-120"/>
              </a:rPr>
              <a:t>A guard can override it if danger spikes.</a:t>
            </a:r>
            <a:endParaRPr lang="en-US" sz="1300" dirty="0"/>
          </a:p>
        </p:txBody>
      </p:sp>
      <p:sp>
        <p:nvSpPr>
          <p:cNvPr id="29" name="Text 27"/>
          <p:cNvSpPr txBox="1"/>
          <p:nvPr/>
        </p:nvSpPr>
        <p:spPr>
          <a:xfrm>
            <a:off x="9482328" y="3291840"/>
            <a:ext cx="256032" cy="548640"/>
          </a:xfrm>
          <a:prstGeom prst="rect">
            <a:avLst/>
          </a:prstGeom>
          <a:noFill/>
          <a:ln/>
        </p:spPr>
        <p:txBody>
          <a:bodyPr wrap="square" lIns="0" tIns="0" rIns="0" bIns="0" rtlCol="0" anchor="ctr"/>
          <a:lstStyle/>
          <a:p>
            <a:pPr algn="ctr" indent="0" marL="0">
              <a:buNone/>
            </a:pPr>
            <a:r>
              <a:rPr lang="en-US" sz="2400" b="1" dirty="0">
                <a:solidFill>
                  <a:srgbClr val="F0B90B"/>
                </a:solidFill>
                <a:latin typeface="Calibri" pitchFamily="34" charset="0"/>
                <a:ea typeface="Calibri" pitchFamily="34" charset="-122"/>
                <a:cs typeface="Calibri" pitchFamily="34" charset="-120"/>
              </a:rPr>
              <a:t>→</a:t>
            </a:r>
            <a:endParaRPr lang="en-US" sz="2400" dirty="0"/>
          </a:p>
        </p:txBody>
      </p:sp>
      <p:sp>
        <p:nvSpPr>
          <p:cNvPr id="30" name="Shape 28"/>
          <p:cNvSpPr/>
          <p:nvPr/>
        </p:nvSpPr>
        <p:spPr>
          <a:xfrm>
            <a:off x="9720072" y="2286000"/>
            <a:ext cx="2084832" cy="2834640"/>
          </a:xfrm>
          <a:prstGeom prst="roundRect">
            <a:avLst>
              <a:gd name="adj" fmla="val 6140"/>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31" name="Shape 29"/>
          <p:cNvSpPr/>
          <p:nvPr/>
        </p:nvSpPr>
        <p:spPr>
          <a:xfrm>
            <a:off x="10488168" y="2606040"/>
            <a:ext cx="548640" cy="548640"/>
          </a:xfrm>
          <a:prstGeom prst="ellipse">
            <a:avLst/>
          </a:prstGeom>
          <a:solidFill>
            <a:srgbClr val="FCD535"/>
          </a:solidFill>
          <a:ln/>
        </p:spPr>
      </p:sp>
      <p:sp>
        <p:nvSpPr>
          <p:cNvPr id="32" name="Text 30"/>
          <p:cNvSpPr txBox="1"/>
          <p:nvPr/>
        </p:nvSpPr>
        <p:spPr>
          <a:xfrm>
            <a:off x="10488168" y="2606040"/>
            <a:ext cx="548640" cy="54864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5</a:t>
            </a:r>
            <a:endParaRPr lang="en-US" sz="1800" dirty="0"/>
          </a:p>
        </p:txBody>
      </p:sp>
      <p:sp>
        <p:nvSpPr>
          <p:cNvPr id="33" name="Text 31"/>
          <p:cNvSpPr txBox="1"/>
          <p:nvPr/>
        </p:nvSpPr>
        <p:spPr>
          <a:xfrm>
            <a:off x="9811512" y="3310128"/>
            <a:ext cx="1901952" cy="457200"/>
          </a:xfrm>
          <a:prstGeom prst="rect">
            <a:avLst/>
          </a:prstGeom>
          <a:noFill/>
          <a:ln/>
        </p:spPr>
        <p:txBody>
          <a:bodyPr wrap="square" lIns="0" tIns="0" rIns="0" bIns="0" rtlCol="0" anchor="ctr"/>
          <a:lstStyle/>
          <a:p>
            <a:pPr algn="ctr" indent="0" marL="0">
              <a:buNone/>
            </a:pPr>
            <a:r>
              <a:rPr lang="en-US" sz="1800" b="1" dirty="0">
                <a:solidFill>
                  <a:srgbClr val="FCD535"/>
                </a:solidFill>
                <a:latin typeface="Calibri" pitchFamily="34" charset="0"/>
                <a:ea typeface="Calibri" pitchFamily="34" charset="-122"/>
                <a:cs typeface="Calibri" pitchFamily="34" charset="-120"/>
              </a:rPr>
              <a:t>Sign &amp; log</a:t>
            </a:r>
            <a:endParaRPr lang="en-US" sz="1800" dirty="0"/>
          </a:p>
        </p:txBody>
      </p:sp>
      <p:sp>
        <p:nvSpPr>
          <p:cNvPr id="34" name="Text 32"/>
          <p:cNvSpPr txBox="1"/>
          <p:nvPr/>
        </p:nvSpPr>
        <p:spPr>
          <a:xfrm>
            <a:off x="9884664" y="3794760"/>
            <a:ext cx="1755648" cy="1143000"/>
          </a:xfrm>
          <a:prstGeom prst="rect">
            <a:avLst/>
          </a:prstGeom>
          <a:noFill/>
          <a:ln/>
        </p:spPr>
        <p:txBody>
          <a:bodyPr wrap="square" lIns="0" tIns="0" rIns="0" bIns="0" rtlCol="0" anchor="t"/>
          <a:lstStyle/>
          <a:p>
            <a:pPr algn="ctr" indent="0" marL="0">
              <a:lnSpc>
                <a:spcPct val="115000"/>
              </a:lnSpc>
              <a:buNone/>
            </a:pPr>
            <a:r>
              <a:rPr lang="en-US" sz="1300" dirty="0">
                <a:solidFill>
                  <a:srgbClr val="AEB6C0"/>
                </a:solidFill>
                <a:latin typeface="Calibri" pitchFamily="34" charset="0"/>
                <a:ea typeface="Calibri" pitchFamily="34" charset="-122"/>
                <a:cs typeface="Calibri" pitchFamily="34" charset="-120"/>
              </a:rPr>
              <a:t>The decision is recorded and can’t be altered.</a:t>
            </a:r>
            <a:endParaRPr lang="en-US" sz="1300" dirty="0"/>
          </a:p>
        </p:txBody>
      </p:sp>
      <p:sp>
        <p:nvSpPr>
          <p:cNvPr id="35" name="Text 33"/>
          <p:cNvSpPr txBox="1"/>
          <p:nvPr/>
        </p:nvSpPr>
        <p:spPr>
          <a:xfrm>
            <a:off x="502920" y="5440680"/>
            <a:ext cx="11155680" cy="731520"/>
          </a:xfrm>
          <a:prstGeom prst="rect">
            <a:avLst/>
          </a:prstGeom>
          <a:noFill/>
          <a:ln/>
        </p:spPr>
        <p:txBody>
          <a:bodyPr wrap="square" lIns="0" tIns="0" rIns="0" bIns="0" rtlCol="0" anchor="ctr"/>
          <a:lstStyle/>
          <a:p>
            <a:pPr algn="l" indent="0" marL="0">
              <a:lnSpc>
                <a:spcPct val="120000"/>
              </a:lnSpc>
              <a:buNone/>
            </a:pPr>
            <a:r>
              <a:rPr lang="en-US" sz="1450" dirty="0">
                <a:solidFill>
                  <a:srgbClr val="AEB6C0"/>
                </a:solidFill>
                <a:latin typeface="Calibri" pitchFamily="34" charset="0"/>
                <a:ea typeface="Calibri" pitchFamily="34" charset="-122"/>
                <a:cs typeface="Calibri" pitchFamily="34" charset="-120"/>
              </a:rPr>
              <a:t>The point: the AI does the thinking, but it never gets the last word. Two independent gates — the rulebook and the safety guard — sit between any decision and real money.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THE COUNCIL</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300" b="1" dirty="0">
                <a:solidFill>
                  <a:srgbClr val="EAECEF"/>
                </a:solidFill>
                <a:latin typeface="Calibri" pitchFamily="34" charset="0"/>
                <a:ea typeface="Calibri" pitchFamily="34" charset="-122"/>
                <a:cs typeface="Calibri" pitchFamily="34" charset="-120"/>
              </a:rPr>
              <a:t>Five analysts argue. Disagreement shrinks the bet.</a:t>
            </a:r>
            <a:endParaRPr lang="en-US" sz="3300" dirty="0"/>
          </a:p>
        </p:txBody>
      </p:sp>
      <p:sp>
        <p:nvSpPr>
          <p:cNvPr id="6" name="Text 4"/>
          <p:cNvSpPr txBox="1"/>
          <p:nvPr/>
        </p:nvSpPr>
        <p:spPr>
          <a:xfrm>
            <a:off x="502920" y="1645920"/>
            <a:ext cx="5212080" cy="2377440"/>
          </a:xfrm>
          <a:prstGeom prst="rect">
            <a:avLst/>
          </a:prstGeom>
          <a:noFill/>
          <a:ln/>
        </p:spPr>
        <p:txBody>
          <a:bodyPr wrap="square" lIns="0" tIns="0" rIns="0" bIns="0" rtlCol="0" anchor="ctr"/>
          <a:lstStyle/>
          <a:p>
            <a:pPr algn="l" indent="0" marL="0">
              <a:lnSpc>
                <a:spcPct val="122000"/>
              </a:lnSpc>
              <a:buNone/>
            </a:pPr>
            <a:r>
              <a:rPr lang="en-US" sz="1500" dirty="0">
                <a:solidFill>
                  <a:srgbClr val="AEB6C0"/>
                </a:solidFill>
                <a:latin typeface="Calibri" pitchFamily="34" charset="0"/>
                <a:ea typeface="Calibri" pitchFamily="34" charset="-122"/>
                <a:cs typeface="Calibri" pitchFamily="34" charset="-120"/>
              </a:rPr>
              <a:t>Instead of one opinion, five specialists each read the market through a different lens — price trend, order flow, derivatives, market regime and liquidity. When they agree across genuinely different methods, that’s real confidence. When they don’t, GlassBox automatically takes a smaller position rather than pretending the split doesn’t exist.</a:t>
            </a:r>
            <a:endParaRPr lang="en-US" sz="1500" dirty="0"/>
          </a:p>
        </p:txBody>
      </p:sp>
      <p:sp>
        <p:nvSpPr>
          <p:cNvPr id="7" name="Shape 5"/>
          <p:cNvSpPr/>
          <p:nvPr/>
        </p:nvSpPr>
        <p:spPr>
          <a:xfrm>
            <a:off x="502920" y="4160520"/>
            <a:ext cx="5212080" cy="1920240"/>
          </a:xfrm>
          <a:prstGeom prst="roundRect">
            <a:avLst>
              <a:gd name="adj" fmla="val 5714"/>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777240" y="4315968"/>
            <a:ext cx="4572000" cy="320040"/>
          </a:xfrm>
          <a:prstGeom prst="rect">
            <a:avLst/>
          </a:prstGeom>
          <a:noFill/>
          <a:ln/>
        </p:spPr>
        <p:txBody>
          <a:bodyPr wrap="square" lIns="0" tIns="0" rIns="0" bIns="0" rtlCol="0" anchor="ctr"/>
          <a:lstStyle/>
          <a:p>
            <a:pPr algn="l" indent="0" marL="0">
              <a:buNone/>
            </a:pPr>
            <a:r>
              <a:rPr lang="en-US" sz="1300" b="1" dirty="0">
                <a:solidFill>
                  <a:srgbClr val="FCD535"/>
                </a:solidFill>
                <a:latin typeface="Calibri" pitchFamily="34" charset="0"/>
                <a:ea typeface="Calibri" pitchFamily="34" charset="-122"/>
                <a:cs typeface="Calibri" pitchFamily="34" charset="-120"/>
              </a:rPr>
              <a:t>Why it’s strong</a:t>
            </a:r>
            <a:endParaRPr lang="en-US" sz="1300" dirty="0"/>
          </a:p>
        </p:txBody>
      </p:sp>
      <p:sp>
        <p:nvSpPr>
          <p:cNvPr id="9" name="Text 7"/>
          <p:cNvSpPr txBox="1"/>
          <p:nvPr/>
        </p:nvSpPr>
        <p:spPr>
          <a:xfrm>
            <a:off x="777240" y="4681728"/>
            <a:ext cx="4663440" cy="1280160"/>
          </a:xfrm>
          <a:prstGeom prst="rect">
            <a:avLst/>
          </a:prstGeom>
          <a:noFill/>
          <a:ln/>
        </p:spPr>
        <p:txBody>
          <a:bodyPr wrap="square" lIns="0" tIns="0" rIns="0" bIns="0" rtlCol="0" anchor="t"/>
          <a:lstStyle/>
          <a:p>
            <a:pPr algn="l" indent="0" marL="0">
              <a:lnSpc>
                <a:spcPct val="115000"/>
              </a:lnSpc>
              <a:buNone/>
            </a:pPr>
            <a:r>
              <a:rPr lang="en-US" sz="1350" b="1" dirty="0">
                <a:solidFill>
                  <a:srgbClr val="EAECEF"/>
                </a:solidFill>
                <a:latin typeface="Calibri" pitchFamily="34" charset="0"/>
                <a:ea typeface="Calibri" pitchFamily="34" charset="-122"/>
                <a:cs typeface="Calibri" pitchFamily="34" charset="-120"/>
              </a:rPr>
              <a:t>The losing argument is kept too — </a:t>
            </a:r>
            <a:pPr algn="l" indent="0" marL="0">
              <a:lnSpc>
                <a:spcPct val="115000"/>
              </a:lnSpc>
              <a:buNone/>
            </a:pPr>
            <a:r>
              <a:rPr lang="en-US" sz="1350" dirty="0">
                <a:solidFill>
                  <a:srgbClr val="AEB6C0"/>
                </a:solidFill>
                <a:latin typeface="Calibri" pitchFamily="34" charset="0"/>
                <a:ea typeface="Calibri" pitchFamily="34" charset="-122"/>
                <a:cs typeface="Calibri" pitchFamily="34" charset="-120"/>
              </a:rPr>
              <a:t>you see the case against every trade, not just the pitch for it. Three analysts inside one method agreeing counts as one idea, not three.</a:t>
            </a:r>
            <a:endParaRPr lang="en-US" sz="1350" dirty="0"/>
          </a:p>
        </p:txBody>
      </p:sp>
      <p:sp>
        <p:nvSpPr>
          <p:cNvPr id="10" name="Shape 8"/>
          <p:cNvSpPr/>
          <p:nvPr/>
        </p:nvSpPr>
        <p:spPr>
          <a:xfrm>
            <a:off x="5989320" y="1874520"/>
            <a:ext cx="5715000" cy="4206240"/>
          </a:xfrm>
          <a:prstGeom prst="roundRect">
            <a:avLst>
              <a:gd name="adj" fmla="val 2174"/>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1" name="Image 0" descr="/home/claude/work/glassbox/docs/screenshots/07-council.png">    </p:cNvPr>
          <p:cNvPicPr>
            <a:picLocks noChangeAspect="1"/>
          </p:cNvPicPr>
          <p:nvPr/>
        </p:nvPicPr>
        <p:blipFill>
          <a:blip r:embed="rId1"/>
          <a:srcRect l="0" r="0" t="0" b="0"/>
          <a:stretch/>
        </p:blipFill>
        <p:spPr>
          <a:xfrm>
            <a:off x="6062472" y="1947672"/>
            <a:ext cx="5568696" cy="40599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THE CONSTITUTION</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6</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 rulebook the AI cannot argue with.</a:t>
            </a:r>
            <a:endParaRPr lang="en-US" sz="3800" dirty="0"/>
          </a:p>
        </p:txBody>
      </p:sp>
      <p:sp>
        <p:nvSpPr>
          <p:cNvPr id="6" name="Text 4"/>
          <p:cNvSpPr txBox="1"/>
          <p:nvPr/>
        </p:nvSpPr>
        <p:spPr>
          <a:xfrm>
            <a:off x="502920" y="1645920"/>
            <a:ext cx="5486400" cy="2011680"/>
          </a:xfrm>
          <a:prstGeom prst="rect">
            <a:avLst/>
          </a:prstGeom>
          <a:noFill/>
          <a:ln/>
        </p:spPr>
        <p:txBody>
          <a:bodyPr wrap="square" lIns="0" tIns="0" rIns="0" bIns="0" rtlCol="0" anchor="ctr"/>
          <a:lstStyle/>
          <a:p>
            <a:pPr algn="l" indent="0" marL="0">
              <a:lnSpc>
                <a:spcPct val="125000"/>
              </a:lnSpc>
              <a:buNone/>
            </a:pPr>
            <a:r>
              <a:rPr lang="en-US" sz="1550" dirty="0">
                <a:solidFill>
                  <a:srgbClr val="AEB6C0"/>
                </a:solidFill>
                <a:latin typeface="Calibri" pitchFamily="34" charset="0"/>
                <a:ea typeface="Calibri" pitchFamily="34" charset="-122"/>
                <a:cs typeface="Calibri" pitchFamily="34" charset="-120"/>
              </a:rPr>
              <a:t>The limits live in a plain rulebook, written in a simple text file, and checked by ordinary code AFTER the AI has finished reasoning. The agents can’t edit it, talk their way around it, or ignore it. Break a rule and the trade is shrunk or refused — not negotiated.</a:t>
            </a:r>
            <a:endParaRPr lang="en-US" sz="1550" dirty="0"/>
          </a:p>
        </p:txBody>
      </p:sp>
      <p:sp>
        <p:nvSpPr>
          <p:cNvPr id="7" name="Shape 5"/>
          <p:cNvSpPr/>
          <p:nvPr/>
        </p:nvSpPr>
        <p:spPr>
          <a:xfrm>
            <a:off x="502920" y="3877056"/>
            <a:ext cx="237744" cy="237744"/>
          </a:xfrm>
          <a:prstGeom prst="roundRect">
            <a:avLst>
              <a:gd name="adj" fmla="val 19231"/>
            </a:avLst>
          </a:prstGeom>
          <a:solidFill>
            <a:srgbClr val="FCD535"/>
          </a:solidFill>
          <a:ln/>
        </p:spPr>
      </p:sp>
      <p:sp>
        <p:nvSpPr>
          <p:cNvPr id="8" name="Text 6"/>
          <p:cNvSpPr txBox="1"/>
          <p:nvPr/>
        </p:nvSpPr>
        <p:spPr>
          <a:xfrm>
            <a:off x="914400" y="3694176"/>
            <a:ext cx="5166360" cy="621792"/>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17 rules,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position size, leverage cap, loss limits, cooldowns</a:t>
            </a:r>
            <a:endParaRPr lang="en-US" sz="1450" dirty="0"/>
          </a:p>
        </p:txBody>
      </p:sp>
      <p:sp>
        <p:nvSpPr>
          <p:cNvPr id="9" name="Shape 7"/>
          <p:cNvSpPr/>
          <p:nvPr/>
        </p:nvSpPr>
        <p:spPr>
          <a:xfrm>
            <a:off x="502920" y="4608576"/>
            <a:ext cx="237744" cy="237744"/>
          </a:xfrm>
          <a:prstGeom prst="roundRect">
            <a:avLst>
              <a:gd name="adj" fmla="val 19231"/>
            </a:avLst>
          </a:prstGeom>
          <a:solidFill>
            <a:srgbClr val="0ECB81"/>
          </a:solidFill>
          <a:ln/>
        </p:spPr>
      </p:sp>
      <p:sp>
        <p:nvSpPr>
          <p:cNvPr id="10" name="Text 8"/>
          <p:cNvSpPr txBox="1"/>
          <p:nvPr/>
        </p:nvSpPr>
        <p:spPr>
          <a:xfrm>
            <a:off x="914400" y="4425696"/>
            <a:ext cx="5166360" cy="621792"/>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Fails closed —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when unsure, it blocks rather than allows</a:t>
            </a:r>
            <a:endParaRPr lang="en-US" sz="1450" dirty="0"/>
          </a:p>
        </p:txBody>
      </p:sp>
      <p:sp>
        <p:nvSpPr>
          <p:cNvPr id="11" name="Shape 9"/>
          <p:cNvSpPr/>
          <p:nvPr/>
        </p:nvSpPr>
        <p:spPr>
          <a:xfrm>
            <a:off x="502920" y="5340096"/>
            <a:ext cx="237744" cy="237744"/>
          </a:xfrm>
          <a:prstGeom prst="roundRect">
            <a:avLst>
              <a:gd name="adj" fmla="val 19231"/>
            </a:avLst>
          </a:prstGeom>
          <a:solidFill>
            <a:srgbClr val="FCD535"/>
          </a:solidFill>
          <a:ln/>
        </p:spPr>
      </p:sp>
      <p:sp>
        <p:nvSpPr>
          <p:cNvPr id="12" name="Text 10"/>
          <p:cNvSpPr txBox="1"/>
          <p:nvPr/>
        </p:nvSpPr>
        <p:spPr>
          <a:xfrm>
            <a:off x="914400" y="5157216"/>
            <a:ext cx="5166360" cy="621792"/>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Big trades pause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for your confirmation before they run</a:t>
            </a:r>
            <a:endParaRPr lang="en-US" sz="1450" dirty="0"/>
          </a:p>
        </p:txBody>
      </p:sp>
      <p:sp>
        <p:nvSpPr>
          <p:cNvPr id="13" name="Shape 11"/>
          <p:cNvSpPr/>
          <p:nvPr/>
        </p:nvSpPr>
        <p:spPr>
          <a:xfrm>
            <a:off x="6400800" y="1554480"/>
            <a:ext cx="5303520" cy="4297680"/>
          </a:xfrm>
          <a:prstGeom prst="roundRect">
            <a:avLst>
              <a:gd name="adj" fmla="val 2128"/>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4" name="Text 12"/>
          <p:cNvSpPr txBox="1"/>
          <p:nvPr/>
        </p:nvSpPr>
        <p:spPr>
          <a:xfrm>
            <a:off x="6675120" y="1737360"/>
            <a:ext cx="4572000" cy="320040"/>
          </a:xfrm>
          <a:prstGeom prst="rect">
            <a:avLst/>
          </a:prstGeom>
          <a:noFill/>
          <a:ln/>
        </p:spPr>
        <p:txBody>
          <a:bodyPr wrap="square" lIns="0" tIns="0" rIns="0" bIns="0" rtlCol="0" anchor="ctr"/>
          <a:lstStyle/>
          <a:p>
            <a:pPr algn="l" indent="0" marL="0">
              <a:buNone/>
            </a:pPr>
            <a:r>
              <a:rPr lang="en-US" sz="1200" b="1" dirty="0">
                <a:solidFill>
                  <a:srgbClr val="7A828C"/>
                </a:solidFill>
                <a:latin typeface="Courier New" pitchFamily="34" charset="0"/>
                <a:ea typeface="Courier New" pitchFamily="34" charset="-122"/>
                <a:cs typeface="Courier New" pitchFamily="34" charset="-120"/>
              </a:rPr>
              <a:t>constitution.yaml</a:t>
            </a:r>
            <a:endParaRPr lang="en-US" sz="1200" dirty="0"/>
          </a:p>
        </p:txBody>
      </p:sp>
      <p:sp>
        <p:nvSpPr>
          <p:cNvPr id="15" name="Text 13"/>
          <p:cNvSpPr txBox="1"/>
          <p:nvPr/>
        </p:nvSpPr>
        <p:spPr>
          <a:xfrm>
            <a:off x="6720840" y="2194560"/>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max_position_pct:</a:t>
            </a:r>
            <a:pPr algn="l" indent="0" marL="0">
              <a:buNone/>
            </a:pPr>
            <a:r>
              <a:rPr lang="en-US" sz="1350" dirty="0">
                <a:solidFill>
                  <a:srgbClr val="AEB6C0"/>
                </a:solidFill>
                <a:latin typeface="Courier New" pitchFamily="34" charset="0"/>
                <a:ea typeface="Courier New" pitchFamily="34" charset="-122"/>
                <a:cs typeface="Courier New" pitchFamily="34" charset="-120"/>
              </a:rPr>
              <a:t> 15</a:t>
            </a:r>
            <a:endParaRPr lang="en-US" sz="1350" dirty="0"/>
          </a:p>
        </p:txBody>
      </p:sp>
      <p:sp>
        <p:nvSpPr>
          <p:cNvPr id="16" name="Text 14"/>
          <p:cNvSpPr txBox="1"/>
          <p:nvPr/>
        </p:nvSpPr>
        <p:spPr>
          <a:xfrm>
            <a:off x="6720840" y="2670048"/>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max_leverage:</a:t>
            </a:r>
            <a:pPr algn="l" indent="0" marL="0">
              <a:buNone/>
            </a:pPr>
            <a:r>
              <a:rPr lang="en-US" sz="1350" dirty="0">
                <a:solidFill>
                  <a:srgbClr val="AEB6C0"/>
                </a:solidFill>
                <a:latin typeface="Courier New" pitchFamily="34" charset="0"/>
                <a:ea typeface="Courier New" pitchFamily="34" charset="-122"/>
                <a:cs typeface="Courier New" pitchFamily="34" charset="-120"/>
              </a:rPr>
              <a:t> 10        # hard ceiling → DENY</a:t>
            </a:r>
            <a:endParaRPr lang="en-US" sz="1350" dirty="0"/>
          </a:p>
        </p:txBody>
      </p:sp>
      <p:sp>
        <p:nvSpPr>
          <p:cNvPr id="17" name="Text 15"/>
          <p:cNvSpPr txBox="1"/>
          <p:nvPr/>
        </p:nvSpPr>
        <p:spPr>
          <a:xfrm>
            <a:off x="6720840" y="3145536"/>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daily_loss_limit_pct:</a:t>
            </a:r>
            <a:pPr algn="l" indent="0" marL="0">
              <a:buNone/>
            </a:pPr>
            <a:r>
              <a:rPr lang="en-US" sz="1350" dirty="0">
                <a:solidFill>
                  <a:srgbClr val="AEB6C0"/>
                </a:solidFill>
                <a:latin typeface="Courier New" pitchFamily="34" charset="0"/>
                <a:ea typeface="Courier New" pitchFamily="34" charset="-122"/>
                <a:cs typeface="Courier New" pitchFamily="34" charset="-120"/>
              </a:rPr>
              <a:t> 4</a:t>
            </a:r>
            <a:endParaRPr lang="en-US" sz="1350" dirty="0"/>
          </a:p>
        </p:txBody>
      </p:sp>
      <p:sp>
        <p:nvSpPr>
          <p:cNvPr id="18" name="Text 16"/>
          <p:cNvSpPr txBox="1"/>
          <p:nvPr/>
        </p:nvSpPr>
        <p:spPr>
          <a:xfrm>
            <a:off x="6720840" y="3621024"/>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cooldown_after_loss:</a:t>
            </a:r>
            <a:pPr algn="l" indent="0" marL="0">
              <a:buNone/>
            </a:pPr>
            <a:r>
              <a:rPr lang="en-US" sz="1350" dirty="0">
                <a:solidFill>
                  <a:srgbClr val="AEB6C0"/>
                </a:solidFill>
                <a:latin typeface="Courier New" pitchFamily="34" charset="0"/>
                <a:ea typeface="Courier New" pitchFamily="34" charset="-122"/>
                <a:cs typeface="Courier New" pitchFamily="34" charset="-120"/>
              </a:rPr>
              <a:t> 30m</a:t>
            </a:r>
            <a:endParaRPr lang="en-US" sz="1350" dirty="0"/>
          </a:p>
        </p:txBody>
      </p:sp>
      <p:sp>
        <p:nvSpPr>
          <p:cNvPr id="19" name="Text 17"/>
          <p:cNvSpPr txBox="1"/>
          <p:nvPr/>
        </p:nvSpPr>
        <p:spPr>
          <a:xfrm>
            <a:off x="6720840" y="4096512"/>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require_stop_loss:</a:t>
            </a:r>
            <a:pPr algn="l" indent="0" marL="0">
              <a:buNone/>
            </a:pPr>
            <a:r>
              <a:rPr lang="en-US" sz="1350" dirty="0">
                <a:solidFill>
                  <a:srgbClr val="AEB6C0"/>
                </a:solidFill>
                <a:latin typeface="Courier New" pitchFamily="34" charset="0"/>
                <a:ea typeface="Courier New" pitchFamily="34" charset="-122"/>
                <a:cs typeface="Courier New" pitchFamily="34" charset="-120"/>
              </a:rPr>
              <a:t> true</a:t>
            </a:r>
            <a:endParaRPr lang="en-US" sz="1350" dirty="0"/>
          </a:p>
        </p:txBody>
      </p:sp>
      <p:sp>
        <p:nvSpPr>
          <p:cNvPr id="20" name="Text 18"/>
          <p:cNvSpPr txBox="1"/>
          <p:nvPr/>
        </p:nvSpPr>
        <p:spPr>
          <a:xfrm>
            <a:off x="6720840" y="4572000"/>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confirm_above_pct:</a:t>
            </a:r>
            <a:pPr algn="l" indent="0" marL="0">
              <a:buNone/>
            </a:pPr>
            <a:r>
              <a:rPr lang="en-US" sz="1350" dirty="0">
                <a:solidFill>
                  <a:srgbClr val="AEB6C0"/>
                </a:solidFill>
                <a:latin typeface="Courier New" pitchFamily="34" charset="0"/>
                <a:ea typeface="Courier New" pitchFamily="34" charset="-122"/>
                <a:cs typeface="Courier New" pitchFamily="34" charset="-120"/>
              </a:rPr>
              <a:t> 14      # ask a human first</a:t>
            </a:r>
            <a:endParaRPr lang="en-US" sz="1350" dirty="0"/>
          </a:p>
        </p:txBody>
      </p:sp>
      <p:sp>
        <p:nvSpPr>
          <p:cNvPr id="21" name="Text 19"/>
          <p:cNvSpPr txBox="1"/>
          <p:nvPr/>
        </p:nvSpPr>
        <p:spPr>
          <a:xfrm>
            <a:off x="6720840" y="5047488"/>
            <a:ext cx="4846320" cy="411480"/>
          </a:xfrm>
          <a:prstGeom prst="rect">
            <a:avLst/>
          </a:prstGeom>
          <a:noFill/>
          <a:ln/>
        </p:spPr>
        <p:txBody>
          <a:bodyPr wrap="square" lIns="0" tIns="0" rIns="0" bIns="0" rtlCol="0" anchor="ctr"/>
          <a:lstStyle/>
          <a:p>
            <a:pPr algn="l" indent="0" marL="0">
              <a:buNone/>
            </a:pPr>
            <a:r>
              <a:rPr lang="en-US" sz="1350" dirty="0">
                <a:solidFill>
                  <a:srgbClr val="FCD535"/>
                </a:solidFill>
                <a:latin typeface="Courier New" pitchFamily="34" charset="0"/>
                <a:ea typeface="Courier New" pitchFamily="34" charset="-122"/>
                <a:cs typeface="Courier New" pitchFamily="34" charset="-120"/>
              </a:rPr>
              <a:t>blackout_windows:</a:t>
            </a:r>
            <a:pPr algn="l" indent="0" marL="0">
              <a:buNone/>
            </a:pPr>
            <a:r>
              <a:rPr lang="en-US" sz="1350" dirty="0">
                <a:solidFill>
                  <a:srgbClr val="AEB6C0"/>
                </a:solidFill>
                <a:latin typeface="Courier New" pitchFamily="34" charset="0"/>
                <a:ea typeface="Courier New" pitchFamily="34" charset="-122"/>
                <a:cs typeface="Courier New" pitchFamily="34" charset="-120"/>
              </a:rPr>
              <a:t> [FOMC, CPI]</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6465D"/>
                </a:solidFill>
                <a:latin typeface="Calibri" pitchFamily="34" charset="0"/>
                <a:ea typeface="Calibri" pitchFamily="34" charset="-122"/>
                <a:cs typeface="Calibri" pitchFamily="34" charset="-120"/>
              </a:rPr>
              <a:t>FEATURE · THE GUARDIAN</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7</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 safety guard that can pull the plug.</a:t>
            </a:r>
            <a:endParaRPr lang="en-US" sz="3800" dirty="0"/>
          </a:p>
        </p:txBody>
      </p:sp>
      <p:sp>
        <p:nvSpPr>
          <p:cNvPr id="6" name="Text 4"/>
          <p:cNvSpPr txBox="1"/>
          <p:nvPr/>
        </p:nvSpPr>
        <p:spPr>
          <a:xfrm>
            <a:off x="502920" y="1645920"/>
            <a:ext cx="5212080" cy="2286000"/>
          </a:xfrm>
          <a:prstGeom prst="rect">
            <a:avLst/>
          </a:prstGeom>
          <a:noFill/>
          <a:ln/>
        </p:spPr>
        <p:txBody>
          <a:bodyPr wrap="square" lIns="0" tIns="0" rIns="0" bIns="0" rtlCol="0" anchor="ctr"/>
          <a:lstStyle/>
          <a:p>
            <a:pPr algn="l" indent="0" marL="0">
              <a:lnSpc>
                <a:spcPct val="122000"/>
              </a:lnSpc>
              <a:buNone/>
            </a:pPr>
            <a:r>
              <a:rPr lang="en-US" sz="1500" dirty="0">
                <a:solidFill>
                  <a:srgbClr val="AEB6C0"/>
                </a:solidFill>
                <a:latin typeface="Calibri" pitchFamily="34" charset="0"/>
                <a:ea typeface="Calibri" pitchFamily="34" charset="-122"/>
                <a:cs typeface="Calibri" pitchFamily="34" charset="-120"/>
              </a:rPr>
              <a:t>Independently of the analysts, a Guardian scores danger every few seconds — sudden price moves, volatility spikes, correlations breaking down, losses mounting. If it crosses the line it can veto a trade the rulebook already approved, hedge, or freeze all capital until things calm down.</a:t>
            </a:r>
            <a:endParaRPr lang="en-US" sz="1500" dirty="0"/>
          </a:p>
        </p:txBody>
      </p:sp>
      <p:sp>
        <p:nvSpPr>
          <p:cNvPr id="7" name="Shape 5"/>
          <p:cNvSpPr/>
          <p:nvPr/>
        </p:nvSpPr>
        <p:spPr>
          <a:xfrm>
            <a:off x="502920" y="4069080"/>
            <a:ext cx="5212080" cy="2011680"/>
          </a:xfrm>
          <a:prstGeom prst="roundRect">
            <a:avLst>
              <a:gd name="adj" fmla="val 5455"/>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777240" y="4224528"/>
            <a:ext cx="4572000" cy="320040"/>
          </a:xfrm>
          <a:prstGeom prst="rect">
            <a:avLst/>
          </a:prstGeom>
          <a:noFill/>
          <a:ln/>
        </p:spPr>
        <p:txBody>
          <a:bodyPr wrap="square" lIns="0" tIns="0" rIns="0" bIns="0" rtlCol="0" anchor="ctr"/>
          <a:lstStyle/>
          <a:p>
            <a:pPr algn="l" indent="0" marL="0">
              <a:buNone/>
            </a:pPr>
            <a:r>
              <a:rPr lang="en-US" sz="1300" b="1" dirty="0">
                <a:solidFill>
                  <a:srgbClr val="F6465D"/>
                </a:solidFill>
                <a:latin typeface="Calibri" pitchFamily="34" charset="0"/>
                <a:ea typeface="Calibri" pitchFamily="34" charset="-122"/>
                <a:cs typeface="Calibri" pitchFamily="34" charset="-120"/>
              </a:rPr>
              <a:t>Why it’s strong</a:t>
            </a:r>
            <a:endParaRPr lang="en-US" sz="1300" dirty="0"/>
          </a:p>
        </p:txBody>
      </p:sp>
      <p:sp>
        <p:nvSpPr>
          <p:cNvPr id="9" name="Text 7"/>
          <p:cNvSpPr txBox="1"/>
          <p:nvPr/>
        </p:nvSpPr>
        <p:spPr>
          <a:xfrm>
            <a:off x="777240" y="4590288"/>
            <a:ext cx="4663440" cy="1371600"/>
          </a:xfrm>
          <a:prstGeom prst="rect">
            <a:avLst/>
          </a:prstGeom>
          <a:noFill/>
          <a:ln/>
        </p:spPr>
        <p:txBody>
          <a:bodyPr wrap="square" lIns="0" tIns="0" rIns="0" bIns="0" rtlCol="0" anchor="t"/>
          <a:lstStyle/>
          <a:p>
            <a:pPr algn="l" indent="0" marL="0">
              <a:lnSpc>
                <a:spcPct val="115000"/>
              </a:lnSpc>
              <a:buNone/>
            </a:pPr>
            <a:r>
              <a:rPr lang="en-US" sz="1350" b="1" dirty="0">
                <a:solidFill>
                  <a:srgbClr val="EAECEF"/>
                </a:solidFill>
                <a:latin typeface="Calibri" pitchFamily="34" charset="0"/>
                <a:ea typeface="Calibri" pitchFamily="34" charset="-122"/>
                <a:cs typeface="Calibri" pitchFamily="34" charset="-120"/>
              </a:rPr>
              <a:t>A second, independent brake. </a:t>
            </a:r>
            <a:pPr algn="l" indent="0" marL="0">
              <a:lnSpc>
                <a:spcPct val="115000"/>
              </a:lnSpc>
              <a:buNone/>
            </a:pPr>
            <a:r>
              <a:rPr lang="en-US" sz="1350" dirty="0">
                <a:solidFill>
                  <a:srgbClr val="AEB6C0"/>
                </a:solidFill>
                <a:latin typeface="Calibri" pitchFamily="34" charset="0"/>
                <a:ea typeface="Calibri" pitchFamily="34" charset="-122"/>
                <a:cs typeface="Calibri" pitchFamily="34" charset="-120"/>
              </a:rPr>
              <a:t>The panel scores threat every few seconds against preset lines for elevated, critical and quarantine — and a one-click drill lets you crash the whole book on demand to watch it respond, so the safety isn’t just a claim.</a:t>
            </a:r>
            <a:endParaRPr lang="en-US" sz="1350" dirty="0"/>
          </a:p>
        </p:txBody>
      </p:sp>
      <p:sp>
        <p:nvSpPr>
          <p:cNvPr id="10" name="Shape 8"/>
          <p:cNvSpPr/>
          <p:nvPr/>
        </p:nvSpPr>
        <p:spPr>
          <a:xfrm>
            <a:off x="5989320" y="1828800"/>
            <a:ext cx="5715000" cy="4114800"/>
          </a:xfrm>
          <a:prstGeom prst="roundRect">
            <a:avLst>
              <a:gd name="adj" fmla="val 2222"/>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1" name="Image 0" descr="/home/claude/work/glassbox/docs/screenshots/08-sentinel-crash.png">    </p:cNvPr>
          <p:cNvPicPr>
            <a:picLocks noChangeAspect="1"/>
          </p:cNvPicPr>
          <p:nvPr/>
        </p:nvPicPr>
        <p:blipFill>
          <a:blip r:embed="rId1"/>
          <a:srcRect l="0" r="0" t="0" b="0"/>
          <a:stretch/>
        </p:blipFill>
        <p:spPr>
          <a:xfrm>
            <a:off x="6062472" y="1901952"/>
            <a:ext cx="5568696" cy="39684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THE PROOF</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8</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 logbook that can’t be quietly rewritten.</a:t>
            </a:r>
            <a:endParaRPr lang="en-US" sz="3800" dirty="0"/>
          </a:p>
        </p:txBody>
      </p:sp>
      <p:sp>
        <p:nvSpPr>
          <p:cNvPr id="6" name="Text 4"/>
          <p:cNvSpPr txBox="1"/>
          <p:nvPr/>
        </p:nvSpPr>
        <p:spPr>
          <a:xfrm>
            <a:off x="502920" y="1645920"/>
            <a:ext cx="5760720" cy="2377440"/>
          </a:xfrm>
          <a:prstGeom prst="rect">
            <a:avLst/>
          </a:prstGeom>
          <a:noFill/>
          <a:ln/>
        </p:spPr>
        <p:txBody>
          <a:bodyPr wrap="square" lIns="0" tIns="0" rIns="0" bIns="0" rtlCol="0" anchor="ctr"/>
          <a:lstStyle/>
          <a:p>
            <a:pPr algn="l" indent="0" marL="0">
              <a:lnSpc>
                <a:spcPct val="125000"/>
              </a:lnSpc>
              <a:buNone/>
            </a:pPr>
            <a:r>
              <a:rPr lang="en-US" sz="1550" dirty="0">
                <a:solidFill>
                  <a:srgbClr val="AEB6C0"/>
                </a:solidFill>
                <a:latin typeface="Calibri" pitchFamily="34" charset="0"/>
                <a:ea typeface="Calibri" pitchFamily="34" charset="-122"/>
                <a:cs typeface="Calibri" pitchFamily="34" charset="-120"/>
              </a:rPr>
              <a:t>Every decision — the analysts’ arguments, the rule check, the Guardian’s call, the order and its outcome — is written to a signed, chained record. Edit or delete any past entry and the chain breaks for that entry and every one after it. You can verify the whole history from the very first record at any time.</a:t>
            </a:r>
            <a:endParaRPr lang="en-US" sz="1550" dirty="0"/>
          </a:p>
        </p:txBody>
      </p:sp>
      <p:sp>
        <p:nvSpPr>
          <p:cNvPr id="7" name="Shape 5"/>
          <p:cNvSpPr/>
          <p:nvPr/>
        </p:nvSpPr>
        <p:spPr>
          <a:xfrm>
            <a:off x="502920" y="4197096"/>
            <a:ext cx="237744" cy="237744"/>
          </a:xfrm>
          <a:prstGeom prst="roundRect">
            <a:avLst>
              <a:gd name="adj" fmla="val 19231"/>
            </a:avLst>
          </a:prstGeom>
          <a:solidFill>
            <a:srgbClr val="FCD535"/>
          </a:solidFill>
          <a:ln/>
        </p:spPr>
      </p:sp>
      <p:sp>
        <p:nvSpPr>
          <p:cNvPr id="8" name="Text 6"/>
          <p:cNvSpPr txBox="1"/>
          <p:nvPr/>
        </p:nvSpPr>
        <p:spPr>
          <a:xfrm>
            <a:off x="914400" y="4014216"/>
            <a:ext cx="5440680" cy="667512"/>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Signed &amp; hash-chained —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tampering is detectable, not hidden</a:t>
            </a:r>
            <a:endParaRPr lang="en-US" sz="1450" dirty="0"/>
          </a:p>
        </p:txBody>
      </p:sp>
      <p:sp>
        <p:nvSpPr>
          <p:cNvPr id="9" name="Shape 7"/>
          <p:cNvSpPr/>
          <p:nvPr/>
        </p:nvSpPr>
        <p:spPr>
          <a:xfrm>
            <a:off x="502920" y="4974336"/>
            <a:ext cx="237744" cy="237744"/>
          </a:xfrm>
          <a:prstGeom prst="roundRect">
            <a:avLst>
              <a:gd name="adj" fmla="val 19231"/>
            </a:avLst>
          </a:prstGeom>
          <a:solidFill>
            <a:srgbClr val="0ECB81"/>
          </a:solidFill>
          <a:ln/>
        </p:spPr>
      </p:sp>
      <p:sp>
        <p:nvSpPr>
          <p:cNvPr id="10" name="Text 8"/>
          <p:cNvSpPr txBox="1"/>
          <p:nvPr/>
        </p:nvSpPr>
        <p:spPr>
          <a:xfrm>
            <a:off x="914400" y="4791456"/>
            <a:ext cx="5440680" cy="667512"/>
          </a:xfrm>
          <a:prstGeom prst="rect">
            <a:avLst/>
          </a:prstGeom>
          <a:noFill/>
          <a:ln/>
        </p:spPr>
        <p:txBody>
          <a:bodyPr wrap="square" lIns="0" tIns="0" rIns="0" bIns="0" rtlCol="0" anchor="t"/>
          <a:lstStyle/>
          <a:p>
            <a:pPr algn="l" indent="0" marL="0">
              <a:lnSpc>
                <a:spcPct val="105000"/>
              </a:lnSpc>
              <a:buNone/>
            </a:pPr>
            <a:r>
              <a:rPr lang="en-US" sz="1450" b="1" dirty="0">
                <a:solidFill>
                  <a:srgbClr val="EAECEF"/>
                </a:solidFill>
                <a:latin typeface="Calibri" pitchFamily="34" charset="0"/>
                <a:ea typeface="Calibri" pitchFamily="34" charset="-122"/>
                <a:cs typeface="Calibri" pitchFamily="34" charset="-120"/>
              </a:rPr>
              <a:t>Anchored to Binance’s clock  </a:t>
            </a:r>
            <a:pPr algn="l" indent="0" marL="0">
              <a:lnSpc>
                <a:spcPct val="105000"/>
              </a:lnSpc>
              <a:buNone/>
            </a:pPr>
            <a:r>
              <a:rPr lang="en-US" sz="1450" dirty="0">
                <a:solidFill>
                  <a:srgbClr val="AEB6C0"/>
                </a:solidFill>
                <a:latin typeface="Calibri" pitchFamily="34" charset="0"/>
                <a:ea typeface="Calibri" pitchFamily="34" charset="-122"/>
                <a:cs typeface="Calibri" pitchFamily="34" charset="-120"/>
              </a:rPr>
              <a:t>so history can’t be back-dated</a:t>
            </a:r>
            <a:endParaRPr lang="en-US" sz="1450" dirty="0"/>
          </a:p>
        </p:txBody>
      </p:sp>
      <p:sp>
        <p:nvSpPr>
          <p:cNvPr id="11" name="Shape 9"/>
          <p:cNvSpPr/>
          <p:nvPr/>
        </p:nvSpPr>
        <p:spPr>
          <a:xfrm>
            <a:off x="6675120" y="1600200"/>
            <a:ext cx="5029200" cy="749808"/>
          </a:xfrm>
          <a:prstGeom prst="roundRect">
            <a:avLst>
              <a:gd name="adj" fmla="val 12195"/>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6903720" y="1837944"/>
            <a:ext cx="256032" cy="256032"/>
          </a:xfrm>
          <a:prstGeom prst="roundRect">
            <a:avLst>
              <a:gd name="adj" fmla="val 21429"/>
            </a:avLst>
          </a:prstGeom>
          <a:solidFill>
            <a:srgbClr val="0ECB81"/>
          </a:solidFill>
          <a:ln/>
        </p:spPr>
      </p:sp>
      <p:sp>
        <p:nvSpPr>
          <p:cNvPr id="13" name="Text 11"/>
          <p:cNvSpPr txBox="1"/>
          <p:nvPr/>
        </p:nvSpPr>
        <p:spPr>
          <a:xfrm>
            <a:off x="7296912" y="1618488"/>
            <a:ext cx="4297680" cy="713232"/>
          </a:xfrm>
          <a:prstGeom prst="rect">
            <a:avLst/>
          </a:prstGeom>
          <a:noFill/>
          <a:ln/>
        </p:spPr>
        <p:txBody>
          <a:bodyPr wrap="square" lIns="0" tIns="0" rIns="0" bIns="0" rtlCol="0" anchor="ctr"/>
          <a:lstStyle/>
          <a:p>
            <a:pPr algn="l" indent="0" marL="0">
              <a:lnSpc>
                <a:spcPct val="105000"/>
              </a:lnSpc>
              <a:buNone/>
            </a:pPr>
            <a:r>
              <a:rPr lang="en-US" sz="1300" dirty="0">
                <a:solidFill>
                  <a:srgbClr val="EAECEF"/>
                </a:solidFill>
                <a:latin typeface="Calibri" pitchFamily="34" charset="0"/>
                <a:ea typeface="Calibri" pitchFamily="34" charset="-122"/>
                <a:cs typeface="Calibri" pitchFamily="34" charset="-120"/>
              </a:rPr>
              <a:t>Analysts’ arguments (incl. the losing side)</a:t>
            </a:r>
            <a:endParaRPr lang="en-US" sz="1300" dirty="0"/>
          </a:p>
        </p:txBody>
      </p:sp>
      <p:sp>
        <p:nvSpPr>
          <p:cNvPr id="14" name="Shape 12"/>
          <p:cNvSpPr/>
          <p:nvPr/>
        </p:nvSpPr>
        <p:spPr>
          <a:xfrm>
            <a:off x="6675120" y="2496312"/>
            <a:ext cx="5029200" cy="749808"/>
          </a:xfrm>
          <a:prstGeom prst="roundRect">
            <a:avLst>
              <a:gd name="adj" fmla="val 12195"/>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6903720" y="2734056"/>
            <a:ext cx="256032" cy="256032"/>
          </a:xfrm>
          <a:prstGeom prst="roundRect">
            <a:avLst>
              <a:gd name="adj" fmla="val 21429"/>
            </a:avLst>
          </a:prstGeom>
          <a:solidFill>
            <a:srgbClr val="0ECB81"/>
          </a:solidFill>
          <a:ln/>
        </p:spPr>
      </p:sp>
      <p:sp>
        <p:nvSpPr>
          <p:cNvPr id="16" name="Text 14"/>
          <p:cNvSpPr txBox="1"/>
          <p:nvPr/>
        </p:nvSpPr>
        <p:spPr>
          <a:xfrm>
            <a:off x="7296912" y="2514600"/>
            <a:ext cx="4297680" cy="713232"/>
          </a:xfrm>
          <a:prstGeom prst="rect">
            <a:avLst/>
          </a:prstGeom>
          <a:noFill/>
          <a:ln/>
        </p:spPr>
        <p:txBody>
          <a:bodyPr wrap="square" lIns="0" tIns="0" rIns="0" bIns="0" rtlCol="0" anchor="ctr"/>
          <a:lstStyle/>
          <a:p>
            <a:pPr algn="l" indent="0" marL="0">
              <a:lnSpc>
                <a:spcPct val="105000"/>
              </a:lnSpc>
              <a:buNone/>
            </a:pPr>
            <a:r>
              <a:rPr lang="en-US" sz="1300" dirty="0">
                <a:solidFill>
                  <a:srgbClr val="EAECEF"/>
                </a:solidFill>
                <a:latin typeface="Calibri" pitchFamily="34" charset="0"/>
                <a:ea typeface="Calibri" pitchFamily="34" charset="-122"/>
                <a:cs typeface="Calibri" pitchFamily="34" charset="-120"/>
              </a:rPr>
              <a:t>Rulebook verdict + which rule applied</a:t>
            </a:r>
            <a:endParaRPr lang="en-US" sz="1300" dirty="0"/>
          </a:p>
        </p:txBody>
      </p:sp>
      <p:sp>
        <p:nvSpPr>
          <p:cNvPr id="17" name="Shape 15"/>
          <p:cNvSpPr/>
          <p:nvPr/>
        </p:nvSpPr>
        <p:spPr>
          <a:xfrm>
            <a:off x="6675120" y="3392424"/>
            <a:ext cx="5029200" cy="749808"/>
          </a:xfrm>
          <a:prstGeom prst="roundRect">
            <a:avLst>
              <a:gd name="adj" fmla="val 12195"/>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8" name="Shape 16"/>
          <p:cNvSpPr/>
          <p:nvPr/>
        </p:nvSpPr>
        <p:spPr>
          <a:xfrm>
            <a:off x="6903720" y="3630168"/>
            <a:ext cx="256032" cy="256032"/>
          </a:xfrm>
          <a:prstGeom prst="roundRect">
            <a:avLst>
              <a:gd name="adj" fmla="val 21429"/>
            </a:avLst>
          </a:prstGeom>
          <a:solidFill>
            <a:srgbClr val="0ECB81"/>
          </a:solidFill>
          <a:ln/>
        </p:spPr>
      </p:sp>
      <p:sp>
        <p:nvSpPr>
          <p:cNvPr id="19" name="Text 17"/>
          <p:cNvSpPr txBox="1"/>
          <p:nvPr/>
        </p:nvSpPr>
        <p:spPr>
          <a:xfrm>
            <a:off x="7296912" y="3410712"/>
            <a:ext cx="4297680" cy="713232"/>
          </a:xfrm>
          <a:prstGeom prst="rect">
            <a:avLst/>
          </a:prstGeom>
          <a:noFill/>
          <a:ln/>
        </p:spPr>
        <p:txBody>
          <a:bodyPr wrap="square" lIns="0" tIns="0" rIns="0" bIns="0" rtlCol="0" anchor="ctr"/>
          <a:lstStyle/>
          <a:p>
            <a:pPr algn="l" indent="0" marL="0">
              <a:lnSpc>
                <a:spcPct val="105000"/>
              </a:lnSpc>
              <a:buNone/>
            </a:pPr>
            <a:r>
              <a:rPr lang="en-US" sz="1300" dirty="0">
                <a:solidFill>
                  <a:srgbClr val="EAECEF"/>
                </a:solidFill>
                <a:latin typeface="Calibri" pitchFamily="34" charset="0"/>
                <a:ea typeface="Calibri" pitchFamily="34" charset="-122"/>
                <a:cs typeface="Calibri" pitchFamily="34" charset="-120"/>
              </a:rPr>
              <a:t>Guardian threat score at decision time</a:t>
            </a:r>
            <a:endParaRPr lang="en-US" sz="1300" dirty="0"/>
          </a:p>
        </p:txBody>
      </p:sp>
      <p:sp>
        <p:nvSpPr>
          <p:cNvPr id="20" name="Shape 18"/>
          <p:cNvSpPr/>
          <p:nvPr/>
        </p:nvSpPr>
        <p:spPr>
          <a:xfrm>
            <a:off x="6675120" y="4288536"/>
            <a:ext cx="5029200" cy="749808"/>
          </a:xfrm>
          <a:prstGeom prst="roundRect">
            <a:avLst>
              <a:gd name="adj" fmla="val 12195"/>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1" name="Shape 19"/>
          <p:cNvSpPr/>
          <p:nvPr/>
        </p:nvSpPr>
        <p:spPr>
          <a:xfrm>
            <a:off x="6903720" y="4526280"/>
            <a:ext cx="256032" cy="256032"/>
          </a:xfrm>
          <a:prstGeom prst="roundRect">
            <a:avLst>
              <a:gd name="adj" fmla="val 21429"/>
            </a:avLst>
          </a:prstGeom>
          <a:solidFill>
            <a:srgbClr val="0ECB81"/>
          </a:solidFill>
          <a:ln/>
        </p:spPr>
      </p:sp>
      <p:sp>
        <p:nvSpPr>
          <p:cNvPr id="22" name="Text 20"/>
          <p:cNvSpPr txBox="1"/>
          <p:nvPr/>
        </p:nvSpPr>
        <p:spPr>
          <a:xfrm>
            <a:off x="7296912" y="4306824"/>
            <a:ext cx="4297680" cy="713232"/>
          </a:xfrm>
          <a:prstGeom prst="rect">
            <a:avLst/>
          </a:prstGeom>
          <a:noFill/>
          <a:ln/>
        </p:spPr>
        <p:txBody>
          <a:bodyPr wrap="square" lIns="0" tIns="0" rIns="0" bIns="0" rtlCol="0" anchor="ctr"/>
          <a:lstStyle/>
          <a:p>
            <a:pPr algn="l" indent="0" marL="0">
              <a:lnSpc>
                <a:spcPct val="105000"/>
              </a:lnSpc>
              <a:buNone/>
            </a:pPr>
            <a:r>
              <a:rPr lang="en-US" sz="1300" dirty="0">
                <a:solidFill>
                  <a:srgbClr val="EAECEF"/>
                </a:solidFill>
                <a:latin typeface="Calibri" pitchFamily="34" charset="0"/>
                <a:ea typeface="Calibri" pitchFamily="34" charset="-122"/>
                <a:cs typeface="Calibri" pitchFamily="34" charset="-120"/>
              </a:rPr>
              <a:t>Order, price, fees and outcome</a:t>
            </a:r>
            <a:endParaRPr lang="en-US" sz="1300" dirty="0"/>
          </a:p>
        </p:txBody>
      </p:sp>
      <p:sp>
        <p:nvSpPr>
          <p:cNvPr id="23" name="Shape 21"/>
          <p:cNvSpPr/>
          <p:nvPr/>
        </p:nvSpPr>
        <p:spPr>
          <a:xfrm>
            <a:off x="6675120" y="5184648"/>
            <a:ext cx="5029200" cy="749808"/>
          </a:xfrm>
          <a:prstGeom prst="roundRect">
            <a:avLst>
              <a:gd name="adj" fmla="val 12195"/>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4" name="Shape 22"/>
          <p:cNvSpPr/>
          <p:nvPr/>
        </p:nvSpPr>
        <p:spPr>
          <a:xfrm>
            <a:off x="6903720" y="5422392"/>
            <a:ext cx="256032" cy="256032"/>
          </a:xfrm>
          <a:prstGeom prst="roundRect">
            <a:avLst>
              <a:gd name="adj" fmla="val 21429"/>
            </a:avLst>
          </a:prstGeom>
          <a:solidFill>
            <a:srgbClr val="FCD535"/>
          </a:solidFill>
          <a:ln/>
        </p:spPr>
      </p:sp>
      <p:sp>
        <p:nvSpPr>
          <p:cNvPr id="25" name="Text 23"/>
          <p:cNvSpPr txBox="1"/>
          <p:nvPr/>
        </p:nvSpPr>
        <p:spPr>
          <a:xfrm>
            <a:off x="7296912" y="5202936"/>
            <a:ext cx="4297680" cy="713232"/>
          </a:xfrm>
          <a:prstGeom prst="rect">
            <a:avLst/>
          </a:prstGeom>
          <a:noFill/>
          <a:ln/>
        </p:spPr>
        <p:txBody>
          <a:bodyPr wrap="square" lIns="0" tIns="0" rIns="0" bIns="0" rtlCol="0" anchor="ctr"/>
          <a:lstStyle/>
          <a:p>
            <a:pPr algn="l" indent="0" marL="0">
              <a:lnSpc>
                <a:spcPct val="105000"/>
              </a:lnSpc>
              <a:buNone/>
            </a:pPr>
            <a:r>
              <a:rPr lang="en-US" sz="1300" dirty="0">
                <a:solidFill>
                  <a:srgbClr val="EAECEF"/>
                </a:solidFill>
                <a:latin typeface="Calibri" pitchFamily="34" charset="0"/>
                <a:ea typeface="Calibri" pitchFamily="34" charset="-122"/>
                <a:cs typeface="Calibri" pitchFamily="34" charset="-120"/>
              </a:rPr>
              <a:t>SHA-256 signature linking to the previous record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ASK THE DESK</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100" b="1" dirty="0">
                <a:solidFill>
                  <a:srgbClr val="EAECEF"/>
                </a:solidFill>
                <a:latin typeface="Calibri" pitchFamily="34" charset="0"/>
                <a:ea typeface="Calibri" pitchFamily="34" charset="-122"/>
                <a:cs typeface="Calibri" pitchFamily="34" charset="-120"/>
              </a:rPr>
              <a:t>Talk to it about any coin — in plain English.</a:t>
            </a:r>
            <a:endParaRPr lang="en-US" sz="3100" dirty="0"/>
          </a:p>
        </p:txBody>
      </p:sp>
      <p:sp>
        <p:nvSpPr>
          <p:cNvPr id="6" name="Text 4"/>
          <p:cNvSpPr txBox="1"/>
          <p:nvPr/>
        </p:nvSpPr>
        <p:spPr>
          <a:xfrm>
            <a:off x="502920" y="1920240"/>
            <a:ext cx="5029200" cy="2743200"/>
          </a:xfrm>
          <a:prstGeom prst="rect">
            <a:avLst/>
          </a:prstGeom>
          <a:noFill/>
          <a:ln/>
        </p:spPr>
        <p:txBody>
          <a:bodyPr wrap="square" lIns="0" tIns="0" rIns="0" bIns="0" rtlCol="0" anchor="ctr"/>
          <a:lstStyle/>
          <a:p>
            <a:pPr algn="l" indent="0" marL="0">
              <a:lnSpc>
                <a:spcPct val="120000"/>
              </a:lnSpc>
              <a:buNone/>
            </a:pPr>
            <a:r>
              <a:rPr lang="en-US" sz="1350" dirty="0">
                <a:solidFill>
                  <a:srgbClr val="AEB6C0"/>
                </a:solidFill>
                <a:latin typeface="Calibri" pitchFamily="34" charset="0"/>
                <a:ea typeface="Calibri" pitchFamily="34" charset="-122"/>
                <a:cs typeface="Calibri" pitchFamily="34" charset="-120"/>
              </a:rPr>
              <a:t>A built-in analyst you can chat with about any Binance pair, even ones it doesn’t trade — reachable from a chat button in the corner on every screen. Ask a broad question and it gives a full read; a follow-up gets a short answer. You can even paste a wallet address or transaction hash and it looks it up across ten chains. Every number it states is computed live from real data — it can’t make things up.</a:t>
            </a:r>
            <a:endParaRPr lang="en-US" sz="1350" dirty="0"/>
          </a:p>
        </p:txBody>
      </p:sp>
      <p:sp>
        <p:nvSpPr>
          <p:cNvPr id="7" name="Shape 5"/>
          <p:cNvSpPr/>
          <p:nvPr/>
        </p:nvSpPr>
        <p:spPr>
          <a:xfrm>
            <a:off x="502920" y="4754880"/>
            <a:ext cx="5029200" cy="1325880"/>
          </a:xfrm>
          <a:prstGeom prst="roundRect">
            <a:avLst>
              <a:gd name="adj" fmla="val 8276"/>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777240" y="4892040"/>
            <a:ext cx="4572000" cy="320040"/>
          </a:xfrm>
          <a:prstGeom prst="rect">
            <a:avLst/>
          </a:prstGeom>
          <a:noFill/>
          <a:ln/>
        </p:spPr>
        <p:txBody>
          <a:bodyPr wrap="square" lIns="0" tIns="0" rIns="0" bIns="0" rtlCol="0" anchor="ctr"/>
          <a:lstStyle/>
          <a:p>
            <a:pPr algn="l" indent="0" marL="0">
              <a:buNone/>
            </a:pPr>
            <a:r>
              <a:rPr lang="en-US" sz="1300" b="1" dirty="0">
                <a:solidFill>
                  <a:srgbClr val="FCD535"/>
                </a:solidFill>
                <a:latin typeface="Calibri" pitchFamily="34" charset="0"/>
                <a:ea typeface="Calibri" pitchFamily="34" charset="-122"/>
                <a:cs typeface="Calibri" pitchFamily="34" charset="-120"/>
              </a:rPr>
              <a:t>Free to switch on</a:t>
            </a:r>
            <a:endParaRPr lang="en-US" sz="1300" dirty="0"/>
          </a:p>
        </p:txBody>
      </p:sp>
      <p:sp>
        <p:nvSpPr>
          <p:cNvPr id="9" name="Text 7"/>
          <p:cNvSpPr txBox="1"/>
          <p:nvPr/>
        </p:nvSpPr>
        <p:spPr>
          <a:xfrm>
            <a:off x="777240" y="5212080"/>
            <a:ext cx="4572000" cy="822960"/>
          </a:xfrm>
          <a:prstGeom prst="rect">
            <a:avLst/>
          </a:prstGeom>
          <a:noFill/>
          <a:ln/>
        </p:spPr>
        <p:txBody>
          <a:bodyPr wrap="square" lIns="0" tIns="0" rIns="0" bIns="0" rtlCol="0" anchor="t"/>
          <a:lstStyle/>
          <a:p>
            <a:pPr algn="l" indent="0" marL="0">
              <a:lnSpc>
                <a:spcPct val="112000"/>
              </a:lnSpc>
              <a:buNone/>
            </a:pPr>
            <a:r>
              <a:rPr lang="en-US" sz="1200" dirty="0">
                <a:solidFill>
                  <a:srgbClr val="AEB6C0"/>
                </a:solidFill>
                <a:latin typeface="Calibri" pitchFamily="34" charset="0"/>
                <a:ea typeface="Calibri" pitchFamily="34" charset="-122"/>
                <a:cs typeface="Calibri" pitchFamily="34" charset="-120"/>
              </a:rPr>
              <a:t>Works with no setup. Paste a free Groq or Gemini key — or an OpenAI (GPT) or Anthropic (Claude) key — to make it fully conversational. Models are auto-discovered, and the UI speaks eight languages.</a:t>
            </a:r>
            <a:endParaRPr lang="en-US" sz="1200" dirty="0"/>
          </a:p>
        </p:txBody>
      </p:sp>
      <p:sp>
        <p:nvSpPr>
          <p:cNvPr id="10" name="Shape 8"/>
          <p:cNvSpPr/>
          <p:nvPr/>
        </p:nvSpPr>
        <p:spPr>
          <a:xfrm>
            <a:off x="5852160" y="1828800"/>
            <a:ext cx="5852160" cy="4297680"/>
          </a:xfrm>
          <a:prstGeom prst="roundRect">
            <a:avLst>
              <a:gd name="adj" fmla="val 2553"/>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1" name="Shape 9"/>
          <p:cNvSpPr/>
          <p:nvPr/>
        </p:nvSpPr>
        <p:spPr>
          <a:xfrm>
            <a:off x="6172200" y="1965960"/>
            <a:ext cx="5029200" cy="868680"/>
          </a:xfrm>
          <a:prstGeom prst="roundRect">
            <a:avLst>
              <a:gd name="adj" fmla="val 10526"/>
            </a:avLst>
          </a:prstGeom>
          <a:solidFill>
            <a:srgbClr val="1E2329"/>
          </a:solidFill>
          <a:ln w="12700">
            <a:solidFill>
              <a:srgbClr val="2B3139"/>
            </a:solidFill>
            <a:prstDash val="solid"/>
          </a:ln>
        </p:spPr>
      </p:sp>
      <p:sp>
        <p:nvSpPr>
          <p:cNvPr id="12" name="Text 10"/>
          <p:cNvSpPr txBox="1"/>
          <p:nvPr/>
        </p:nvSpPr>
        <p:spPr>
          <a:xfrm>
            <a:off x="6336792" y="2075688"/>
            <a:ext cx="4700016" cy="649224"/>
          </a:xfrm>
          <a:prstGeom prst="rect">
            <a:avLst/>
          </a:prstGeom>
          <a:noFill/>
          <a:ln/>
        </p:spPr>
        <p:txBody>
          <a:bodyPr wrap="square" lIns="0" tIns="0" rIns="0" bIns="0" rtlCol="0" anchor="t"/>
          <a:lstStyle/>
          <a:p>
            <a:pPr algn="l" indent="0" marL="0">
              <a:lnSpc>
                <a:spcPct val="112000"/>
              </a:lnSpc>
              <a:buNone/>
            </a:pPr>
            <a:r>
              <a:rPr lang="en-US" sz="1200" dirty="0">
                <a:solidFill>
                  <a:srgbClr val="EAECEF"/>
                </a:solidFill>
                <a:latin typeface="Calibri" pitchFamily="34" charset="0"/>
                <a:ea typeface="Calibri" pitchFamily="34" charset="-122"/>
                <a:cs typeface="Calibri" pitchFamily="34" charset="-120"/>
              </a:rPr>
              <a:t>BTCUSDT is at $79,404, flat on the day. The Council reads it bullish at 16% — a low-conviction call resting on a single lens (order flow). RSI 47, mid-range; funding roughly neutral.</a:t>
            </a:r>
            <a:endParaRPr lang="en-US" sz="1200" dirty="0"/>
          </a:p>
        </p:txBody>
      </p:sp>
      <p:sp>
        <p:nvSpPr>
          <p:cNvPr id="13" name="Shape 11"/>
          <p:cNvSpPr/>
          <p:nvPr/>
        </p:nvSpPr>
        <p:spPr>
          <a:xfrm>
            <a:off x="8046720" y="2971800"/>
            <a:ext cx="3154680" cy="384048"/>
          </a:xfrm>
          <a:prstGeom prst="roundRect">
            <a:avLst>
              <a:gd name="adj" fmla="val 23810"/>
            </a:avLst>
          </a:prstGeom>
          <a:solidFill>
            <a:srgbClr val="FCD535"/>
          </a:solidFill>
          <a:ln w="12700">
            <a:solidFill>
              <a:srgbClr val="FCD535"/>
            </a:solidFill>
            <a:prstDash val="solid"/>
          </a:ln>
        </p:spPr>
      </p:sp>
      <p:sp>
        <p:nvSpPr>
          <p:cNvPr id="14" name="Text 12"/>
          <p:cNvSpPr txBox="1"/>
          <p:nvPr/>
        </p:nvSpPr>
        <p:spPr>
          <a:xfrm>
            <a:off x="8211312" y="3081528"/>
            <a:ext cx="2825496" cy="164592"/>
          </a:xfrm>
          <a:prstGeom prst="rect">
            <a:avLst/>
          </a:prstGeom>
          <a:noFill/>
          <a:ln/>
        </p:spPr>
        <p:txBody>
          <a:bodyPr wrap="square" lIns="0" tIns="0" rIns="0" bIns="0" rtlCol="0" anchor="t"/>
          <a:lstStyle/>
          <a:p>
            <a:pPr algn="l" indent="0" marL="0">
              <a:lnSpc>
                <a:spcPct val="112000"/>
              </a:lnSpc>
              <a:buNone/>
            </a:pPr>
            <a:r>
              <a:rPr lang="en-US" sz="1200" dirty="0">
                <a:solidFill>
                  <a:srgbClr val="12161C"/>
                </a:solidFill>
                <a:latin typeface="Calibri" pitchFamily="34" charset="0"/>
                <a:ea typeface="Calibri" pitchFamily="34" charset="-122"/>
                <a:cs typeface="Calibri" pitchFamily="34" charset="-120"/>
              </a:rPr>
              <a:t>is it bullish?</a:t>
            </a:r>
            <a:endParaRPr lang="en-US" sz="1200" dirty="0"/>
          </a:p>
        </p:txBody>
      </p:sp>
      <p:sp>
        <p:nvSpPr>
          <p:cNvPr id="15" name="Shape 13"/>
          <p:cNvSpPr/>
          <p:nvPr/>
        </p:nvSpPr>
        <p:spPr>
          <a:xfrm>
            <a:off x="6172200" y="3474720"/>
            <a:ext cx="5029200" cy="896112"/>
          </a:xfrm>
          <a:prstGeom prst="roundRect">
            <a:avLst>
              <a:gd name="adj" fmla="val 10204"/>
            </a:avLst>
          </a:prstGeom>
          <a:solidFill>
            <a:srgbClr val="1E2329"/>
          </a:solidFill>
          <a:ln w="12700">
            <a:solidFill>
              <a:srgbClr val="2B3139"/>
            </a:solidFill>
            <a:prstDash val="solid"/>
          </a:ln>
        </p:spPr>
      </p:sp>
      <p:sp>
        <p:nvSpPr>
          <p:cNvPr id="16" name="Text 14"/>
          <p:cNvSpPr txBox="1"/>
          <p:nvPr/>
        </p:nvSpPr>
        <p:spPr>
          <a:xfrm>
            <a:off x="6336792" y="3584448"/>
            <a:ext cx="4700016" cy="676656"/>
          </a:xfrm>
          <a:prstGeom prst="rect">
            <a:avLst/>
          </a:prstGeom>
          <a:noFill/>
          <a:ln/>
        </p:spPr>
        <p:txBody>
          <a:bodyPr wrap="square" lIns="0" tIns="0" rIns="0" bIns="0" rtlCol="0" anchor="t"/>
          <a:lstStyle/>
          <a:p>
            <a:pPr algn="l" indent="0" marL="0">
              <a:lnSpc>
                <a:spcPct val="112000"/>
              </a:lnSpc>
              <a:buNone/>
            </a:pPr>
            <a:r>
              <a:rPr lang="en-US" sz="1200" dirty="0">
                <a:solidFill>
                  <a:srgbClr val="EAECEF"/>
                </a:solidFill>
                <a:latin typeface="Calibri" pitchFamily="34" charset="0"/>
                <a:ea typeface="Calibri" pitchFamily="34" charset="-122"/>
                <a:cs typeface="Calibri" pitchFamily="34" charset="-120"/>
              </a:rPr>
              <a:t>Leaning yes, but only weakly: the Council is bullish at 16%. The case rests on a single method family, so I’d call it fragile until a second lens agrees. I wouldn’t treat it as a green light on its own.</a:t>
            </a:r>
            <a:endParaRPr lang="en-US" sz="1200" dirty="0"/>
          </a:p>
        </p:txBody>
      </p:sp>
      <p:sp>
        <p:nvSpPr>
          <p:cNvPr id="17" name="Shape 15"/>
          <p:cNvSpPr/>
          <p:nvPr/>
        </p:nvSpPr>
        <p:spPr>
          <a:xfrm>
            <a:off x="8732520" y="4526280"/>
            <a:ext cx="2468880" cy="384048"/>
          </a:xfrm>
          <a:prstGeom prst="roundRect">
            <a:avLst>
              <a:gd name="adj" fmla="val 23810"/>
            </a:avLst>
          </a:prstGeom>
          <a:solidFill>
            <a:srgbClr val="FCD535"/>
          </a:solidFill>
          <a:ln w="12700">
            <a:solidFill>
              <a:srgbClr val="FCD535"/>
            </a:solidFill>
            <a:prstDash val="solid"/>
          </a:ln>
        </p:spPr>
      </p:sp>
      <p:sp>
        <p:nvSpPr>
          <p:cNvPr id="18" name="Text 16"/>
          <p:cNvSpPr txBox="1"/>
          <p:nvPr/>
        </p:nvSpPr>
        <p:spPr>
          <a:xfrm>
            <a:off x="8897112" y="4636008"/>
            <a:ext cx="2139696" cy="164592"/>
          </a:xfrm>
          <a:prstGeom prst="rect">
            <a:avLst/>
          </a:prstGeom>
          <a:noFill/>
          <a:ln/>
        </p:spPr>
        <p:txBody>
          <a:bodyPr wrap="square" lIns="0" tIns="0" rIns="0" bIns="0" rtlCol="0" anchor="t"/>
          <a:lstStyle/>
          <a:p>
            <a:pPr algn="l" indent="0" marL="0">
              <a:lnSpc>
                <a:spcPct val="112000"/>
              </a:lnSpc>
              <a:buNone/>
            </a:pPr>
            <a:r>
              <a:rPr lang="en-US" sz="1200" dirty="0">
                <a:solidFill>
                  <a:srgbClr val="12161C"/>
                </a:solidFill>
                <a:latin typeface="Calibri" pitchFamily="34" charset="0"/>
                <a:ea typeface="Calibri" pitchFamily="34" charset="-122"/>
                <a:cs typeface="Calibri" pitchFamily="34" charset="-120"/>
              </a:rPr>
              <a:t>what about risk?</a:t>
            </a:r>
            <a:endParaRPr lang="en-US" sz="1200" dirty="0"/>
          </a:p>
        </p:txBody>
      </p:sp>
      <p:sp>
        <p:nvSpPr>
          <p:cNvPr id="19" name="Shape 17"/>
          <p:cNvSpPr/>
          <p:nvPr/>
        </p:nvSpPr>
        <p:spPr>
          <a:xfrm>
            <a:off x="6172200" y="5029200"/>
            <a:ext cx="5029200" cy="960120"/>
          </a:xfrm>
          <a:prstGeom prst="roundRect">
            <a:avLst>
              <a:gd name="adj" fmla="val 9524"/>
            </a:avLst>
          </a:prstGeom>
          <a:solidFill>
            <a:srgbClr val="1E2329"/>
          </a:solidFill>
          <a:ln w="12700">
            <a:solidFill>
              <a:srgbClr val="2B3139"/>
            </a:solidFill>
            <a:prstDash val="solid"/>
          </a:ln>
        </p:spPr>
      </p:sp>
      <p:sp>
        <p:nvSpPr>
          <p:cNvPr id="20" name="Text 18"/>
          <p:cNvSpPr txBox="1"/>
          <p:nvPr/>
        </p:nvSpPr>
        <p:spPr>
          <a:xfrm>
            <a:off x="6336792" y="5138928"/>
            <a:ext cx="4700016" cy="740664"/>
          </a:xfrm>
          <a:prstGeom prst="rect">
            <a:avLst/>
          </a:prstGeom>
          <a:noFill/>
          <a:ln/>
        </p:spPr>
        <p:txBody>
          <a:bodyPr wrap="square" lIns="0" tIns="0" rIns="0" bIns="0" rtlCol="0" anchor="t"/>
          <a:lstStyle/>
          <a:p>
            <a:pPr algn="l" indent="0" marL="0">
              <a:lnSpc>
                <a:spcPct val="112000"/>
              </a:lnSpc>
              <a:buNone/>
            </a:pPr>
            <a:r>
              <a:rPr lang="en-US" sz="1200" dirty="0">
                <a:solidFill>
                  <a:srgbClr val="EAECEF"/>
                </a:solidFill>
                <a:latin typeface="Calibri" pitchFamily="34" charset="0"/>
                <a:ea typeface="Calibri" pitchFamily="34" charset="-122"/>
                <a:cs typeface="Calibri" pitchFamily="34" charset="-120"/>
              </a:rPr>
              <a:t>Portfolio-wide the Guardian threat is calm (0/100). This pair’s volatility is ~0.1% per candle, so at 10x leverage a routine tick is ~1% of margin — size accordingly. Not a crowded-long setup.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FITS THE BRIEF</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10</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All four agent workflows — covered.</a:t>
            </a:r>
            <a:endParaRPr lang="en-US" sz="3800" dirty="0"/>
          </a:p>
        </p:txBody>
      </p:sp>
      <p:sp>
        <p:nvSpPr>
          <p:cNvPr id="6" name="Text 4"/>
          <p:cNvSpPr txBox="1"/>
          <p:nvPr/>
        </p:nvSpPr>
        <p:spPr>
          <a:xfrm>
            <a:off x="502920" y="1572768"/>
            <a:ext cx="11247120" cy="502920"/>
          </a:xfrm>
          <a:prstGeom prst="rect">
            <a:avLst/>
          </a:prstGeom>
          <a:noFill/>
          <a:ln/>
        </p:spPr>
        <p:txBody>
          <a:bodyPr wrap="square" lIns="0" tIns="0" rIns="0" bIns="0" rtlCol="0" anchor="ctr"/>
          <a:lstStyle/>
          <a:p>
            <a:pPr algn="l" indent="0" marL="0">
              <a:lnSpc>
                <a:spcPct val="115000"/>
              </a:lnSpc>
              <a:buNone/>
            </a:pPr>
            <a:r>
              <a:rPr lang="en-US" sz="1400" dirty="0">
                <a:solidFill>
                  <a:srgbClr val="AEB6C0"/>
                </a:solidFill>
                <a:latin typeface="Calibri" pitchFamily="34" charset="0"/>
                <a:ea typeface="Calibri" pitchFamily="34" charset="-122"/>
                <a:cs typeface="Calibri" pitchFamily="34" charset="-120"/>
              </a:rPr>
              <a:t>The hackathon asks for agents that handle data, trading, payments and on-chain work. Here's exactly where GlassBox lands on each.</a:t>
            </a:r>
            <a:endParaRPr lang="en-US" sz="1400" dirty="0"/>
          </a:p>
        </p:txBody>
      </p:sp>
      <p:sp>
        <p:nvSpPr>
          <p:cNvPr id="7" name="Shape 5"/>
          <p:cNvSpPr/>
          <p:nvPr/>
        </p:nvSpPr>
        <p:spPr>
          <a:xfrm>
            <a:off x="502920" y="2194560"/>
            <a:ext cx="11183112" cy="1024128"/>
          </a:xfrm>
          <a:prstGeom prst="roundRect">
            <a:avLst>
              <a:gd name="adj" fmla="val 10714"/>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758952" y="2532888"/>
            <a:ext cx="1188720" cy="347472"/>
          </a:xfrm>
          <a:prstGeom prst="roundRect">
            <a:avLst>
              <a:gd name="adj" fmla="val 50000"/>
            </a:avLst>
          </a:prstGeom>
          <a:solidFill>
            <a:srgbClr val="0ECB81">
              <a:alpha val="18000"/>
            </a:srgbClr>
          </a:solidFill>
          <a:ln w="12700">
            <a:solidFill>
              <a:srgbClr val="0ECB81"/>
            </a:solidFill>
            <a:prstDash val="solid"/>
          </a:ln>
        </p:spPr>
      </p:sp>
      <p:sp>
        <p:nvSpPr>
          <p:cNvPr id="9" name="Text 7"/>
          <p:cNvSpPr txBox="1"/>
          <p:nvPr/>
        </p:nvSpPr>
        <p:spPr>
          <a:xfrm>
            <a:off x="758952" y="2532888"/>
            <a:ext cx="1188720" cy="347472"/>
          </a:xfrm>
          <a:prstGeom prst="rect">
            <a:avLst/>
          </a:prstGeom>
          <a:noFill/>
          <a:ln/>
        </p:spPr>
        <p:txBody>
          <a:bodyPr wrap="square" lIns="0" tIns="0" rIns="0" bIns="0" rtlCol="0" anchor="ctr"/>
          <a:lstStyle/>
          <a:p>
            <a:pPr algn="ctr" indent="0" marL="0">
              <a:buNone/>
            </a:pPr>
            <a:r>
              <a:rPr lang="en-US" sz="1150" b="1" dirty="0">
                <a:solidFill>
                  <a:srgbClr val="0ECB81"/>
                </a:solidFill>
                <a:latin typeface="Calibri" pitchFamily="34" charset="0"/>
                <a:ea typeface="Calibri" pitchFamily="34" charset="-122"/>
                <a:cs typeface="Calibri" pitchFamily="34" charset="-120"/>
              </a:rPr>
              <a:t>Covered</a:t>
            </a:r>
            <a:endParaRPr lang="en-US" sz="1150" dirty="0"/>
          </a:p>
        </p:txBody>
      </p:sp>
      <p:sp>
        <p:nvSpPr>
          <p:cNvPr id="10" name="Text 8"/>
          <p:cNvSpPr txBox="1"/>
          <p:nvPr/>
        </p:nvSpPr>
        <p:spPr>
          <a:xfrm>
            <a:off x="2148840" y="2377440"/>
            <a:ext cx="3977640" cy="365760"/>
          </a:xfrm>
          <a:prstGeom prst="rect">
            <a:avLst/>
          </a:prstGeom>
          <a:noFill/>
          <a:ln/>
        </p:spPr>
        <p:txBody>
          <a:bodyPr wrap="square" lIns="0" tIns="0" rIns="0" bIns="0" rtlCol="0" anchor="ctr"/>
          <a:lstStyle/>
          <a:p>
            <a:pPr algn="l" indent="0" marL="0">
              <a:buNone/>
            </a:pPr>
            <a:r>
              <a:rPr lang="en-US" sz="1500" b="1" dirty="0">
                <a:solidFill>
                  <a:srgbClr val="EAECEF"/>
                </a:solidFill>
                <a:latin typeface="Calibri" pitchFamily="34" charset="0"/>
                <a:ea typeface="Calibri" pitchFamily="34" charset="-122"/>
                <a:cs typeface="Calibri" pitchFamily="34" charset="-120"/>
              </a:rPr>
              <a:t>Data &amp; Analysis</a:t>
            </a:r>
            <a:endParaRPr lang="en-US" sz="1500" dirty="0"/>
          </a:p>
        </p:txBody>
      </p:sp>
      <p:sp>
        <p:nvSpPr>
          <p:cNvPr id="11" name="Text 9"/>
          <p:cNvSpPr txBox="1"/>
          <p:nvPr/>
        </p:nvSpPr>
        <p:spPr>
          <a:xfrm>
            <a:off x="2148840" y="2724912"/>
            <a:ext cx="4114800" cy="365760"/>
          </a:xfrm>
          <a:prstGeom prst="rect">
            <a:avLst/>
          </a:prstGeom>
          <a:noFill/>
          <a:ln/>
        </p:spPr>
        <p:txBody>
          <a:bodyPr wrap="square" lIns="0" tIns="0" rIns="0" bIns="0" rtlCol="0" anchor="ctr"/>
          <a:lstStyle/>
          <a:p>
            <a:pPr algn="l" indent="0" marL="0">
              <a:buNone/>
            </a:pPr>
            <a:r>
              <a:rPr lang="en-US" sz="1050" dirty="0">
                <a:solidFill>
                  <a:srgbClr val="7A828C"/>
                </a:solidFill>
                <a:latin typeface="Calibri" pitchFamily="34" charset="0"/>
                <a:ea typeface="Calibri" pitchFamily="34" charset="-122"/>
                <a:cs typeface="Calibri" pitchFamily="34" charset="-120"/>
              </a:rPr>
              <a:t>Reports · Market Analysis · Portfolio Insights</a:t>
            </a:r>
            <a:endParaRPr lang="en-US" sz="1050" dirty="0"/>
          </a:p>
        </p:txBody>
      </p:sp>
      <p:sp>
        <p:nvSpPr>
          <p:cNvPr id="12" name="Text 10"/>
          <p:cNvSpPr txBox="1"/>
          <p:nvPr/>
        </p:nvSpPr>
        <p:spPr>
          <a:xfrm>
            <a:off x="6446520" y="2322576"/>
            <a:ext cx="5074920" cy="768096"/>
          </a:xfrm>
          <a:prstGeom prst="rect">
            <a:avLst/>
          </a:prstGeom>
          <a:noFill/>
          <a:ln/>
        </p:spPr>
        <p:txBody>
          <a:bodyPr wrap="square" lIns="0" tIns="0" rIns="0" bIns="0" rtlCol="0" anchor="ctr"/>
          <a:lstStyle/>
          <a:p>
            <a:pPr algn="l" indent="0" marL="0">
              <a:lnSpc>
                <a:spcPct val="110000"/>
              </a:lnSpc>
              <a:buNone/>
            </a:pPr>
            <a:r>
              <a:rPr lang="en-US" sz="1200" dirty="0">
                <a:solidFill>
                  <a:srgbClr val="AEB6C0"/>
                </a:solidFill>
                <a:latin typeface="Calibri" pitchFamily="34" charset="0"/>
                <a:ea typeface="Calibri" pitchFamily="34" charset="-122"/>
                <a:cs typeface="Calibri" pitchFamily="34" charset="-120"/>
              </a:rPr>
              <a:t>Five-analyst Council, live indicators, the Ask-the-Desk chat, and signed decision reports with a running track record.</a:t>
            </a:r>
            <a:endParaRPr lang="en-US" sz="1200" dirty="0"/>
          </a:p>
        </p:txBody>
      </p:sp>
      <p:sp>
        <p:nvSpPr>
          <p:cNvPr id="13" name="Shape 11"/>
          <p:cNvSpPr/>
          <p:nvPr/>
        </p:nvSpPr>
        <p:spPr>
          <a:xfrm>
            <a:off x="502920" y="3328416"/>
            <a:ext cx="11183112" cy="1024128"/>
          </a:xfrm>
          <a:prstGeom prst="roundRect">
            <a:avLst>
              <a:gd name="adj" fmla="val 10714"/>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758952" y="3666744"/>
            <a:ext cx="1188720" cy="347472"/>
          </a:xfrm>
          <a:prstGeom prst="roundRect">
            <a:avLst>
              <a:gd name="adj" fmla="val 50000"/>
            </a:avLst>
          </a:prstGeom>
          <a:solidFill>
            <a:srgbClr val="0ECB81">
              <a:alpha val="18000"/>
            </a:srgbClr>
          </a:solidFill>
          <a:ln w="12700">
            <a:solidFill>
              <a:srgbClr val="0ECB81"/>
            </a:solidFill>
            <a:prstDash val="solid"/>
          </a:ln>
        </p:spPr>
      </p:sp>
      <p:sp>
        <p:nvSpPr>
          <p:cNvPr id="15" name="Text 13"/>
          <p:cNvSpPr txBox="1"/>
          <p:nvPr/>
        </p:nvSpPr>
        <p:spPr>
          <a:xfrm>
            <a:off x="758952" y="3666744"/>
            <a:ext cx="1188720" cy="347472"/>
          </a:xfrm>
          <a:prstGeom prst="rect">
            <a:avLst/>
          </a:prstGeom>
          <a:noFill/>
          <a:ln/>
        </p:spPr>
        <p:txBody>
          <a:bodyPr wrap="square" lIns="0" tIns="0" rIns="0" bIns="0" rtlCol="0" anchor="ctr"/>
          <a:lstStyle/>
          <a:p>
            <a:pPr algn="ctr" indent="0" marL="0">
              <a:buNone/>
            </a:pPr>
            <a:r>
              <a:rPr lang="en-US" sz="1150" b="1" dirty="0">
                <a:solidFill>
                  <a:srgbClr val="0ECB81"/>
                </a:solidFill>
                <a:latin typeface="Calibri" pitchFamily="34" charset="0"/>
                <a:ea typeface="Calibri" pitchFamily="34" charset="-122"/>
                <a:cs typeface="Calibri" pitchFamily="34" charset="-120"/>
              </a:rPr>
              <a:t>Covered</a:t>
            </a:r>
            <a:endParaRPr lang="en-US" sz="1150" dirty="0"/>
          </a:p>
        </p:txBody>
      </p:sp>
      <p:sp>
        <p:nvSpPr>
          <p:cNvPr id="16" name="Text 14"/>
          <p:cNvSpPr txBox="1"/>
          <p:nvPr/>
        </p:nvSpPr>
        <p:spPr>
          <a:xfrm>
            <a:off x="2148840" y="3511296"/>
            <a:ext cx="3977640" cy="365760"/>
          </a:xfrm>
          <a:prstGeom prst="rect">
            <a:avLst/>
          </a:prstGeom>
          <a:noFill/>
          <a:ln/>
        </p:spPr>
        <p:txBody>
          <a:bodyPr wrap="square" lIns="0" tIns="0" rIns="0" bIns="0" rtlCol="0" anchor="ctr"/>
          <a:lstStyle/>
          <a:p>
            <a:pPr algn="l" indent="0" marL="0">
              <a:buNone/>
            </a:pPr>
            <a:r>
              <a:rPr lang="en-US" sz="1500" b="1" dirty="0">
                <a:solidFill>
                  <a:srgbClr val="EAECEF"/>
                </a:solidFill>
                <a:latin typeface="Calibri" pitchFamily="34" charset="0"/>
                <a:ea typeface="Calibri" pitchFamily="34" charset="-122"/>
                <a:cs typeface="Calibri" pitchFamily="34" charset="-120"/>
              </a:rPr>
              <a:t>Trading Workflows</a:t>
            </a:r>
            <a:endParaRPr lang="en-US" sz="1500" dirty="0"/>
          </a:p>
        </p:txBody>
      </p:sp>
      <p:sp>
        <p:nvSpPr>
          <p:cNvPr id="17" name="Text 15"/>
          <p:cNvSpPr txBox="1"/>
          <p:nvPr/>
        </p:nvSpPr>
        <p:spPr>
          <a:xfrm>
            <a:off x="2148840" y="3858768"/>
            <a:ext cx="4114800" cy="365760"/>
          </a:xfrm>
          <a:prstGeom prst="rect">
            <a:avLst/>
          </a:prstGeom>
          <a:noFill/>
          <a:ln/>
        </p:spPr>
        <p:txBody>
          <a:bodyPr wrap="square" lIns="0" tIns="0" rIns="0" bIns="0" rtlCol="0" anchor="ctr"/>
          <a:lstStyle/>
          <a:p>
            <a:pPr algn="l" indent="0" marL="0">
              <a:buNone/>
            </a:pPr>
            <a:r>
              <a:rPr lang="en-US" sz="1050" dirty="0">
                <a:solidFill>
                  <a:srgbClr val="7A828C"/>
                </a:solidFill>
                <a:latin typeface="Calibri" pitchFamily="34" charset="0"/>
                <a:ea typeface="Calibri" pitchFamily="34" charset="-122"/>
                <a:cs typeface="Calibri" pitchFamily="34" charset="-120"/>
              </a:rPr>
              <a:t>Signals · Strategies · Automated Actions</a:t>
            </a:r>
            <a:endParaRPr lang="en-US" sz="1050" dirty="0"/>
          </a:p>
        </p:txBody>
      </p:sp>
      <p:sp>
        <p:nvSpPr>
          <p:cNvPr id="18" name="Text 16"/>
          <p:cNvSpPr txBox="1"/>
          <p:nvPr/>
        </p:nvSpPr>
        <p:spPr>
          <a:xfrm>
            <a:off x="6446520" y="3456432"/>
            <a:ext cx="5074920" cy="768096"/>
          </a:xfrm>
          <a:prstGeom prst="rect">
            <a:avLst/>
          </a:prstGeom>
          <a:noFill/>
          <a:ln/>
        </p:spPr>
        <p:txBody>
          <a:bodyPr wrap="square" lIns="0" tIns="0" rIns="0" bIns="0" rtlCol="0" anchor="ctr"/>
          <a:lstStyle/>
          <a:p>
            <a:pPr algn="l" indent="0" marL="0">
              <a:lnSpc>
                <a:spcPct val="110000"/>
              </a:lnSpc>
              <a:buNone/>
            </a:pPr>
            <a:r>
              <a:rPr lang="en-US" sz="1200" dirty="0">
                <a:solidFill>
                  <a:srgbClr val="AEB6C0"/>
                </a:solidFill>
                <a:latin typeface="Calibri" pitchFamily="34" charset="0"/>
                <a:ea typeface="Calibri" pitchFamily="34" charset="-122"/>
                <a:cs typeface="Calibri" pitchFamily="34" charset="-120"/>
              </a:rPr>
              <a:t>Council signals drive autonomous spot and leveraged-futures trades — every one gated by the rulebook and the Guardian.</a:t>
            </a:r>
            <a:endParaRPr lang="en-US" sz="1200" dirty="0"/>
          </a:p>
        </p:txBody>
      </p:sp>
      <p:sp>
        <p:nvSpPr>
          <p:cNvPr id="19" name="Shape 17"/>
          <p:cNvSpPr/>
          <p:nvPr/>
        </p:nvSpPr>
        <p:spPr>
          <a:xfrm>
            <a:off x="502920" y="4462272"/>
            <a:ext cx="11183112" cy="1024128"/>
          </a:xfrm>
          <a:prstGeom prst="roundRect">
            <a:avLst>
              <a:gd name="adj" fmla="val 10714"/>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758952" y="4800600"/>
            <a:ext cx="1188720" cy="347472"/>
          </a:xfrm>
          <a:prstGeom prst="roundRect">
            <a:avLst>
              <a:gd name="adj" fmla="val 50000"/>
            </a:avLst>
          </a:prstGeom>
          <a:solidFill>
            <a:srgbClr val="0ECB81">
              <a:alpha val="18000"/>
            </a:srgbClr>
          </a:solidFill>
          <a:ln w="12700">
            <a:solidFill>
              <a:srgbClr val="0ECB81"/>
            </a:solidFill>
            <a:prstDash val="solid"/>
          </a:ln>
        </p:spPr>
      </p:sp>
      <p:sp>
        <p:nvSpPr>
          <p:cNvPr id="21" name="Text 19"/>
          <p:cNvSpPr txBox="1"/>
          <p:nvPr/>
        </p:nvSpPr>
        <p:spPr>
          <a:xfrm>
            <a:off x="758952" y="4800600"/>
            <a:ext cx="1188720" cy="347472"/>
          </a:xfrm>
          <a:prstGeom prst="rect">
            <a:avLst/>
          </a:prstGeom>
          <a:noFill/>
          <a:ln/>
        </p:spPr>
        <p:txBody>
          <a:bodyPr wrap="square" lIns="0" tIns="0" rIns="0" bIns="0" rtlCol="0" anchor="ctr"/>
          <a:lstStyle/>
          <a:p>
            <a:pPr algn="ctr" indent="0" marL="0">
              <a:buNone/>
            </a:pPr>
            <a:r>
              <a:rPr lang="en-US" sz="1150" b="1" dirty="0">
                <a:solidFill>
                  <a:srgbClr val="0ECB81"/>
                </a:solidFill>
                <a:latin typeface="Calibri" pitchFamily="34" charset="0"/>
                <a:ea typeface="Calibri" pitchFamily="34" charset="-122"/>
                <a:cs typeface="Calibri" pitchFamily="34" charset="-120"/>
              </a:rPr>
              <a:t>Covered</a:t>
            </a:r>
            <a:endParaRPr lang="en-US" sz="1150" dirty="0"/>
          </a:p>
        </p:txBody>
      </p:sp>
      <p:sp>
        <p:nvSpPr>
          <p:cNvPr id="22" name="Text 20"/>
          <p:cNvSpPr txBox="1"/>
          <p:nvPr/>
        </p:nvSpPr>
        <p:spPr>
          <a:xfrm>
            <a:off x="2148840" y="4645152"/>
            <a:ext cx="3977640" cy="365760"/>
          </a:xfrm>
          <a:prstGeom prst="rect">
            <a:avLst/>
          </a:prstGeom>
          <a:noFill/>
          <a:ln/>
        </p:spPr>
        <p:txBody>
          <a:bodyPr wrap="square" lIns="0" tIns="0" rIns="0" bIns="0" rtlCol="0" anchor="ctr"/>
          <a:lstStyle/>
          <a:p>
            <a:pPr algn="l" indent="0" marL="0">
              <a:buNone/>
            </a:pPr>
            <a:r>
              <a:rPr lang="en-US" sz="1500" b="1" dirty="0">
                <a:solidFill>
                  <a:srgbClr val="EAECEF"/>
                </a:solidFill>
                <a:latin typeface="Calibri" pitchFamily="34" charset="0"/>
                <a:ea typeface="Calibri" pitchFamily="34" charset="-122"/>
                <a:cs typeface="Calibri" pitchFamily="34" charset="-120"/>
              </a:rPr>
              <a:t>Payment Workflows</a:t>
            </a:r>
            <a:endParaRPr lang="en-US" sz="1500" dirty="0"/>
          </a:p>
        </p:txBody>
      </p:sp>
      <p:sp>
        <p:nvSpPr>
          <p:cNvPr id="23" name="Text 21"/>
          <p:cNvSpPr txBox="1"/>
          <p:nvPr/>
        </p:nvSpPr>
        <p:spPr>
          <a:xfrm>
            <a:off x="2148840" y="4992624"/>
            <a:ext cx="4114800" cy="365760"/>
          </a:xfrm>
          <a:prstGeom prst="rect">
            <a:avLst/>
          </a:prstGeom>
          <a:noFill/>
          <a:ln/>
        </p:spPr>
        <p:txBody>
          <a:bodyPr wrap="square" lIns="0" tIns="0" rIns="0" bIns="0" rtlCol="0" anchor="ctr"/>
          <a:lstStyle/>
          <a:p>
            <a:pPr algn="l" indent="0" marL="0">
              <a:buNone/>
            </a:pPr>
            <a:r>
              <a:rPr lang="en-US" sz="1050" dirty="0">
                <a:solidFill>
                  <a:srgbClr val="7A828C"/>
                </a:solidFill>
                <a:latin typeface="Calibri" pitchFamily="34" charset="0"/>
                <a:ea typeface="Calibri" pitchFamily="34" charset="-122"/>
                <a:cs typeface="Calibri" pitchFamily="34" charset="-120"/>
              </a:rPr>
              <a:t>Agent-to-Agent · Automated Payments</a:t>
            </a:r>
            <a:endParaRPr lang="en-US" sz="1050" dirty="0"/>
          </a:p>
        </p:txBody>
      </p:sp>
      <p:sp>
        <p:nvSpPr>
          <p:cNvPr id="24" name="Text 22"/>
          <p:cNvSpPr txBox="1"/>
          <p:nvPr/>
        </p:nvSpPr>
        <p:spPr>
          <a:xfrm>
            <a:off x="6446520" y="4590288"/>
            <a:ext cx="5074920" cy="768096"/>
          </a:xfrm>
          <a:prstGeom prst="rect">
            <a:avLst/>
          </a:prstGeom>
          <a:noFill/>
          <a:ln/>
        </p:spPr>
        <p:txBody>
          <a:bodyPr wrap="square" lIns="0" tIns="0" rIns="0" bIns="0" rtlCol="0" anchor="ctr"/>
          <a:lstStyle/>
          <a:p>
            <a:pPr algn="l" indent="0" marL="0">
              <a:lnSpc>
                <a:spcPct val="110000"/>
              </a:lnSpc>
              <a:buNone/>
            </a:pPr>
            <a:r>
              <a:rPr lang="en-US" sz="1200" dirty="0">
                <a:solidFill>
                  <a:srgbClr val="AEB6C0"/>
                </a:solidFill>
                <a:latin typeface="Calibri" pitchFamily="34" charset="0"/>
                <a:ea typeface="Calibri" pitchFamily="34" charset="-122"/>
                <a:cs typeface="Calibri" pitchFamily="34" charset="-120"/>
              </a:rPr>
              <a:t>Agent-to-agent USDC payments and per-use x402 data purchases — screened by a spending policy and signed to the ledger (paper / Base Sepolia).</a:t>
            </a:r>
            <a:endParaRPr lang="en-US" sz="1200" dirty="0"/>
          </a:p>
        </p:txBody>
      </p:sp>
      <p:sp>
        <p:nvSpPr>
          <p:cNvPr id="25" name="Shape 23"/>
          <p:cNvSpPr/>
          <p:nvPr/>
        </p:nvSpPr>
        <p:spPr>
          <a:xfrm>
            <a:off x="502920" y="5596128"/>
            <a:ext cx="11183112" cy="1024128"/>
          </a:xfrm>
          <a:prstGeom prst="roundRect">
            <a:avLst>
              <a:gd name="adj" fmla="val 10714"/>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6" name="Shape 24"/>
          <p:cNvSpPr/>
          <p:nvPr/>
        </p:nvSpPr>
        <p:spPr>
          <a:xfrm>
            <a:off x="758952" y="5934456"/>
            <a:ext cx="1188720" cy="347472"/>
          </a:xfrm>
          <a:prstGeom prst="roundRect">
            <a:avLst>
              <a:gd name="adj" fmla="val 50000"/>
            </a:avLst>
          </a:prstGeom>
          <a:solidFill>
            <a:srgbClr val="0ECB81">
              <a:alpha val="18000"/>
            </a:srgbClr>
          </a:solidFill>
          <a:ln w="12700">
            <a:solidFill>
              <a:srgbClr val="0ECB81"/>
            </a:solidFill>
            <a:prstDash val="solid"/>
          </a:ln>
        </p:spPr>
      </p:sp>
      <p:sp>
        <p:nvSpPr>
          <p:cNvPr id="27" name="Text 25"/>
          <p:cNvSpPr txBox="1"/>
          <p:nvPr/>
        </p:nvSpPr>
        <p:spPr>
          <a:xfrm>
            <a:off x="758952" y="5934456"/>
            <a:ext cx="1188720" cy="347472"/>
          </a:xfrm>
          <a:prstGeom prst="rect">
            <a:avLst/>
          </a:prstGeom>
          <a:noFill/>
          <a:ln/>
        </p:spPr>
        <p:txBody>
          <a:bodyPr wrap="square" lIns="0" tIns="0" rIns="0" bIns="0" rtlCol="0" anchor="ctr"/>
          <a:lstStyle/>
          <a:p>
            <a:pPr algn="ctr" indent="0" marL="0">
              <a:buNone/>
            </a:pPr>
            <a:r>
              <a:rPr lang="en-US" sz="1150" b="1" dirty="0">
                <a:solidFill>
                  <a:srgbClr val="0ECB81"/>
                </a:solidFill>
                <a:latin typeface="Calibri" pitchFamily="34" charset="0"/>
                <a:ea typeface="Calibri" pitchFamily="34" charset="-122"/>
                <a:cs typeface="Calibri" pitchFamily="34" charset="-120"/>
              </a:rPr>
              <a:t>Covered</a:t>
            </a:r>
            <a:endParaRPr lang="en-US" sz="1150" dirty="0"/>
          </a:p>
        </p:txBody>
      </p:sp>
      <p:sp>
        <p:nvSpPr>
          <p:cNvPr id="28" name="Text 26"/>
          <p:cNvSpPr txBox="1"/>
          <p:nvPr/>
        </p:nvSpPr>
        <p:spPr>
          <a:xfrm>
            <a:off x="2148840" y="5779008"/>
            <a:ext cx="3977640" cy="365760"/>
          </a:xfrm>
          <a:prstGeom prst="rect">
            <a:avLst/>
          </a:prstGeom>
          <a:noFill/>
          <a:ln/>
        </p:spPr>
        <p:txBody>
          <a:bodyPr wrap="square" lIns="0" tIns="0" rIns="0" bIns="0" rtlCol="0" anchor="ctr"/>
          <a:lstStyle/>
          <a:p>
            <a:pPr algn="l" indent="0" marL="0">
              <a:buNone/>
            </a:pPr>
            <a:r>
              <a:rPr lang="en-US" sz="1500" b="1" dirty="0">
                <a:solidFill>
                  <a:srgbClr val="EAECEF"/>
                </a:solidFill>
                <a:latin typeface="Calibri" pitchFamily="34" charset="0"/>
                <a:ea typeface="Calibri" pitchFamily="34" charset="-122"/>
                <a:cs typeface="Calibri" pitchFamily="34" charset="-120"/>
              </a:rPr>
              <a:t>Onchain Workflows</a:t>
            </a:r>
            <a:endParaRPr lang="en-US" sz="1500" dirty="0"/>
          </a:p>
        </p:txBody>
      </p:sp>
      <p:sp>
        <p:nvSpPr>
          <p:cNvPr id="29" name="Text 27"/>
          <p:cNvSpPr txBox="1"/>
          <p:nvPr/>
        </p:nvSpPr>
        <p:spPr>
          <a:xfrm>
            <a:off x="2148840" y="6126480"/>
            <a:ext cx="4114800" cy="365760"/>
          </a:xfrm>
          <a:prstGeom prst="rect">
            <a:avLst/>
          </a:prstGeom>
          <a:noFill/>
          <a:ln/>
        </p:spPr>
        <p:txBody>
          <a:bodyPr wrap="square" lIns="0" tIns="0" rIns="0" bIns="0" rtlCol="0" anchor="ctr"/>
          <a:lstStyle/>
          <a:p>
            <a:pPr algn="l" indent="0" marL="0">
              <a:buNone/>
            </a:pPr>
            <a:r>
              <a:rPr lang="en-US" sz="1050" dirty="0">
                <a:solidFill>
                  <a:srgbClr val="7A828C"/>
                </a:solidFill>
                <a:latin typeface="Calibri" pitchFamily="34" charset="0"/>
                <a:ea typeface="Calibri" pitchFamily="34" charset="-122"/>
                <a:cs typeface="Calibri" pitchFamily="34" charset="-120"/>
              </a:rPr>
              <a:t>Staking · DeFi · Onchain Actions</a:t>
            </a:r>
            <a:endParaRPr lang="en-US" sz="1050" dirty="0"/>
          </a:p>
        </p:txBody>
      </p:sp>
      <p:sp>
        <p:nvSpPr>
          <p:cNvPr id="30" name="Text 28"/>
          <p:cNvSpPr txBox="1"/>
          <p:nvPr/>
        </p:nvSpPr>
        <p:spPr>
          <a:xfrm>
            <a:off x="6446520" y="5724144"/>
            <a:ext cx="5074920" cy="768096"/>
          </a:xfrm>
          <a:prstGeom prst="rect">
            <a:avLst/>
          </a:prstGeom>
          <a:noFill/>
          <a:ln/>
        </p:spPr>
        <p:txBody>
          <a:bodyPr wrap="square" lIns="0" tIns="0" rIns="0" bIns="0" rtlCol="0" anchor="ctr"/>
          <a:lstStyle/>
          <a:p>
            <a:pPr algn="l" indent="0" marL="0">
              <a:lnSpc>
                <a:spcPct val="110000"/>
              </a:lnSpc>
              <a:buNone/>
            </a:pPr>
            <a:r>
              <a:rPr lang="en-US" sz="1200" dirty="0">
                <a:solidFill>
                  <a:srgbClr val="AEB6C0"/>
                </a:solidFill>
                <a:latin typeface="Calibri" pitchFamily="34" charset="0"/>
                <a:ea typeface="Calibri" pitchFamily="34" charset="-122"/>
                <a:cs typeface="Calibri" pitchFamily="34" charset="-120"/>
              </a:rPr>
              <a:t>Stake, unstake, claim and swap from the dashboard, plus wallet/transaction lookups across 10 chains — every action on the signed ledger (paper).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WHY IT’S THE STRONGEST FIT</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11</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Most agents chase returns. This one earns trust.</a:t>
            </a:r>
            <a:endParaRPr lang="en-US" sz="3800" dirty="0"/>
          </a:p>
        </p:txBody>
      </p:sp>
      <p:sp>
        <p:nvSpPr>
          <p:cNvPr id="6" name="Text 4"/>
          <p:cNvSpPr txBox="1"/>
          <p:nvPr/>
        </p:nvSpPr>
        <p:spPr>
          <a:xfrm>
            <a:off x="502920" y="1600200"/>
            <a:ext cx="11155680" cy="685800"/>
          </a:xfrm>
          <a:prstGeom prst="rect">
            <a:avLst/>
          </a:prstGeom>
          <a:noFill/>
          <a:ln/>
        </p:spPr>
        <p:txBody>
          <a:bodyPr wrap="square" lIns="0" tIns="0" rIns="0" bIns="0" rtlCol="0" anchor="ctr"/>
          <a:lstStyle/>
          <a:p>
            <a:pPr algn="l" indent="0" marL="0">
              <a:lnSpc>
                <a:spcPct val="120000"/>
              </a:lnSpc>
              <a:buNone/>
            </a:pPr>
            <a:r>
              <a:rPr lang="en-US" sz="1550" dirty="0">
                <a:solidFill>
                  <a:srgbClr val="AEB6C0"/>
                </a:solidFill>
                <a:latin typeface="Calibri" pitchFamily="34" charset="0"/>
                <a:ea typeface="Calibri" pitchFamily="34" charset="-122"/>
                <a:cs typeface="Calibri" pitchFamily="34" charset="-120"/>
              </a:rPr>
              <a:t>An “Agent OS” has to let autonomous agents touch real money. The blocker isn’t cleverness — it’s trust and safety. That’s exactly the gap GlassBox is built to fill.</a:t>
            </a:r>
            <a:endParaRPr lang="en-US" sz="1550" dirty="0"/>
          </a:p>
        </p:txBody>
      </p:sp>
      <p:sp>
        <p:nvSpPr>
          <p:cNvPr id="7" name="Shape 5"/>
          <p:cNvSpPr/>
          <p:nvPr/>
        </p:nvSpPr>
        <p:spPr>
          <a:xfrm>
            <a:off x="502920" y="2514600"/>
            <a:ext cx="5486400" cy="3566160"/>
          </a:xfrm>
          <a:prstGeom prst="roundRect">
            <a:avLst>
              <a:gd name="adj" fmla="val 3077"/>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777240" y="2697480"/>
            <a:ext cx="4937760" cy="411480"/>
          </a:xfrm>
          <a:prstGeom prst="rect">
            <a:avLst/>
          </a:prstGeom>
          <a:noFill/>
          <a:ln/>
        </p:spPr>
        <p:txBody>
          <a:bodyPr wrap="square" lIns="0" tIns="0" rIns="0" bIns="0" rtlCol="0" anchor="ctr"/>
          <a:lstStyle/>
          <a:p>
            <a:pPr algn="l" indent="0" marL="0">
              <a:buNone/>
            </a:pPr>
            <a:r>
              <a:rPr lang="en-US" sz="1700" b="1" dirty="0">
                <a:solidFill>
                  <a:srgbClr val="AEB6C0"/>
                </a:solidFill>
                <a:latin typeface="Calibri" pitchFamily="34" charset="0"/>
                <a:ea typeface="Calibri" pitchFamily="34" charset="-122"/>
                <a:cs typeface="Calibri" pitchFamily="34" charset="-120"/>
              </a:rPr>
              <a:t>A typical trading agent</a:t>
            </a:r>
            <a:endParaRPr lang="en-US" sz="1700" dirty="0"/>
          </a:p>
        </p:txBody>
      </p:sp>
      <p:sp>
        <p:nvSpPr>
          <p:cNvPr id="9" name="Text 7"/>
          <p:cNvSpPr txBox="1"/>
          <p:nvPr/>
        </p:nvSpPr>
        <p:spPr>
          <a:xfrm>
            <a:off x="822960" y="3200400"/>
            <a:ext cx="365760" cy="365760"/>
          </a:xfrm>
          <a:prstGeom prst="rect">
            <a:avLst/>
          </a:prstGeom>
          <a:noFill/>
          <a:ln/>
        </p:spPr>
        <p:txBody>
          <a:bodyPr wrap="square" lIns="0" tIns="0" rIns="0" bIns="0" rtlCol="0" anchor="ctr"/>
          <a:lstStyle/>
          <a:p>
            <a:pPr algn="l" indent="0" marL="0">
              <a:buNone/>
            </a:pPr>
            <a:r>
              <a:rPr lang="en-US" sz="1500" b="1" dirty="0">
                <a:solidFill>
                  <a:srgbClr val="F6465D"/>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1234440" y="320040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One opinion, taken on faith</a:t>
            </a:r>
            <a:endParaRPr lang="en-US" sz="1400" dirty="0"/>
          </a:p>
        </p:txBody>
      </p:sp>
      <p:sp>
        <p:nvSpPr>
          <p:cNvPr id="11" name="Text 9"/>
          <p:cNvSpPr txBox="1"/>
          <p:nvPr/>
        </p:nvSpPr>
        <p:spPr>
          <a:xfrm>
            <a:off x="822960" y="3749040"/>
            <a:ext cx="365760" cy="365760"/>
          </a:xfrm>
          <a:prstGeom prst="rect">
            <a:avLst/>
          </a:prstGeom>
          <a:noFill/>
          <a:ln/>
        </p:spPr>
        <p:txBody>
          <a:bodyPr wrap="square" lIns="0" tIns="0" rIns="0" bIns="0" rtlCol="0" anchor="ctr"/>
          <a:lstStyle/>
          <a:p>
            <a:pPr algn="l" indent="0" marL="0">
              <a:buNone/>
            </a:pPr>
            <a:r>
              <a:rPr lang="en-US" sz="1500" b="1" dirty="0">
                <a:solidFill>
                  <a:srgbClr val="F6465D"/>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34440" y="374904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Reasoning you can’t inspect</a:t>
            </a:r>
            <a:endParaRPr lang="en-US" sz="1400" dirty="0"/>
          </a:p>
        </p:txBody>
      </p:sp>
      <p:sp>
        <p:nvSpPr>
          <p:cNvPr id="13" name="Text 11"/>
          <p:cNvSpPr txBox="1"/>
          <p:nvPr/>
        </p:nvSpPr>
        <p:spPr>
          <a:xfrm>
            <a:off x="822960" y="4297680"/>
            <a:ext cx="365760" cy="365760"/>
          </a:xfrm>
          <a:prstGeom prst="rect">
            <a:avLst/>
          </a:prstGeom>
          <a:noFill/>
          <a:ln/>
        </p:spPr>
        <p:txBody>
          <a:bodyPr wrap="square" lIns="0" tIns="0" rIns="0" bIns="0" rtlCol="0" anchor="ctr"/>
          <a:lstStyle/>
          <a:p>
            <a:pPr algn="l" indent="0" marL="0">
              <a:buNone/>
            </a:pPr>
            <a:r>
              <a:rPr lang="en-US" sz="1500" b="1" dirty="0">
                <a:solidFill>
                  <a:srgbClr val="F6465D"/>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1234440" y="429768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Limits the model can talk around</a:t>
            </a:r>
            <a:endParaRPr lang="en-US" sz="1400" dirty="0"/>
          </a:p>
        </p:txBody>
      </p:sp>
      <p:sp>
        <p:nvSpPr>
          <p:cNvPr id="15" name="Text 13"/>
          <p:cNvSpPr txBox="1"/>
          <p:nvPr/>
        </p:nvSpPr>
        <p:spPr>
          <a:xfrm>
            <a:off x="822960" y="4846320"/>
            <a:ext cx="365760" cy="365760"/>
          </a:xfrm>
          <a:prstGeom prst="rect">
            <a:avLst/>
          </a:prstGeom>
          <a:noFill/>
          <a:ln/>
        </p:spPr>
        <p:txBody>
          <a:bodyPr wrap="square" lIns="0" tIns="0" rIns="0" bIns="0" rtlCol="0" anchor="ctr"/>
          <a:lstStyle/>
          <a:p>
            <a:pPr algn="l" indent="0" marL="0">
              <a:buNone/>
            </a:pPr>
            <a:r>
              <a:rPr lang="en-US" sz="1500" b="1" dirty="0">
                <a:solidFill>
                  <a:srgbClr val="F6465D"/>
                </a:solidFill>
                <a:latin typeface="Calibri" pitchFamily="34" charset="0"/>
                <a:ea typeface="Calibri" pitchFamily="34" charset="-122"/>
                <a:cs typeface="Calibri" pitchFamily="34" charset="-120"/>
              </a:rPr>
              <a:t>✕</a:t>
            </a:r>
            <a:endParaRPr lang="en-US" sz="1500" dirty="0"/>
          </a:p>
        </p:txBody>
      </p:sp>
      <p:sp>
        <p:nvSpPr>
          <p:cNvPr id="16" name="Text 14"/>
          <p:cNvSpPr txBox="1"/>
          <p:nvPr/>
        </p:nvSpPr>
        <p:spPr>
          <a:xfrm>
            <a:off x="1234440" y="484632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Logs that can be edited</a:t>
            </a:r>
            <a:endParaRPr lang="en-US" sz="1400" dirty="0"/>
          </a:p>
        </p:txBody>
      </p:sp>
      <p:sp>
        <p:nvSpPr>
          <p:cNvPr id="17" name="Text 15"/>
          <p:cNvSpPr txBox="1"/>
          <p:nvPr/>
        </p:nvSpPr>
        <p:spPr>
          <a:xfrm>
            <a:off x="822960" y="5394960"/>
            <a:ext cx="365760" cy="365760"/>
          </a:xfrm>
          <a:prstGeom prst="rect">
            <a:avLst/>
          </a:prstGeom>
          <a:noFill/>
          <a:ln/>
        </p:spPr>
        <p:txBody>
          <a:bodyPr wrap="square" lIns="0" tIns="0" rIns="0" bIns="0" rtlCol="0" anchor="ctr"/>
          <a:lstStyle/>
          <a:p>
            <a:pPr algn="l" indent="0" marL="0">
              <a:buNone/>
            </a:pPr>
            <a:r>
              <a:rPr lang="en-US" sz="1500" b="1" dirty="0">
                <a:solidFill>
                  <a:srgbClr val="F6465D"/>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34440" y="539496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“Trust the returns”</a:t>
            </a:r>
            <a:endParaRPr lang="en-US" sz="1400" dirty="0"/>
          </a:p>
        </p:txBody>
      </p:sp>
      <p:sp>
        <p:nvSpPr>
          <p:cNvPr id="19" name="Shape 17"/>
          <p:cNvSpPr/>
          <p:nvPr/>
        </p:nvSpPr>
        <p:spPr>
          <a:xfrm>
            <a:off x="6217920" y="2514600"/>
            <a:ext cx="5486400" cy="3566160"/>
          </a:xfrm>
          <a:prstGeom prst="roundRect">
            <a:avLst>
              <a:gd name="adj" fmla="val 3077"/>
            </a:avLst>
          </a:prstGeom>
          <a:solidFill>
            <a:srgbClr val="1E2329"/>
          </a:solidFill>
          <a:ln w="12700">
            <a:solidFill>
              <a:srgbClr val="F0B90B"/>
            </a:solidFill>
            <a:prstDash val="solid"/>
          </a:ln>
          <a:effectLst>
            <a:outerShdw sx="100000" sy="100000" kx="0" ky="0" algn="bl" rotWithShape="0" blurRad="101600" dist="38100" dir="5400000">
              <a:srgbClr val="000000">
                <a:alpha val="35000"/>
              </a:srgbClr>
            </a:outerShdw>
          </a:effectLst>
        </p:spPr>
      </p:sp>
      <p:sp>
        <p:nvSpPr>
          <p:cNvPr id="20" name="Text 18"/>
          <p:cNvSpPr txBox="1"/>
          <p:nvPr/>
        </p:nvSpPr>
        <p:spPr>
          <a:xfrm>
            <a:off x="6492240" y="2697480"/>
            <a:ext cx="4937760" cy="411480"/>
          </a:xfrm>
          <a:prstGeom prst="rect">
            <a:avLst/>
          </a:prstGeom>
          <a:noFill/>
          <a:ln/>
        </p:spPr>
        <p:txBody>
          <a:bodyPr wrap="square" lIns="0" tIns="0" rIns="0" bIns="0" rtlCol="0" anchor="ctr"/>
          <a:lstStyle/>
          <a:p>
            <a:pPr algn="l" indent="0" marL="0">
              <a:buNone/>
            </a:pPr>
            <a:r>
              <a:rPr lang="en-US" sz="1700" b="1" dirty="0">
                <a:solidFill>
                  <a:srgbClr val="FCD535"/>
                </a:solidFill>
                <a:latin typeface="Calibri" pitchFamily="34" charset="0"/>
                <a:ea typeface="Calibri" pitchFamily="34" charset="-122"/>
                <a:cs typeface="Calibri" pitchFamily="34" charset="-120"/>
              </a:rPr>
              <a:t>GlassBox</a:t>
            </a:r>
            <a:endParaRPr lang="en-US" sz="1700" dirty="0"/>
          </a:p>
        </p:txBody>
      </p:sp>
      <p:sp>
        <p:nvSpPr>
          <p:cNvPr id="21" name="Text 19"/>
          <p:cNvSpPr txBox="1"/>
          <p:nvPr/>
        </p:nvSpPr>
        <p:spPr>
          <a:xfrm>
            <a:off x="6537960" y="3200400"/>
            <a:ext cx="365760" cy="365760"/>
          </a:xfrm>
          <a:prstGeom prst="rect">
            <a:avLst/>
          </a:prstGeom>
          <a:noFill/>
          <a:ln/>
        </p:spPr>
        <p:txBody>
          <a:bodyPr wrap="square" lIns="0" tIns="0" rIns="0" bIns="0" rtlCol="0" anchor="ctr"/>
          <a:lstStyle/>
          <a:p>
            <a:pPr algn="l" indent="0" marL="0">
              <a:buNone/>
            </a:pPr>
            <a:r>
              <a:rPr lang="en-US" sz="1500" b="1" dirty="0">
                <a:solidFill>
                  <a:srgbClr val="0ECB81"/>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6949440" y="320040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Five lenses; disagreement shrinks the bet</a:t>
            </a:r>
            <a:endParaRPr lang="en-US" sz="1400" dirty="0"/>
          </a:p>
        </p:txBody>
      </p:sp>
      <p:sp>
        <p:nvSpPr>
          <p:cNvPr id="23" name="Text 21"/>
          <p:cNvSpPr txBox="1"/>
          <p:nvPr/>
        </p:nvSpPr>
        <p:spPr>
          <a:xfrm>
            <a:off x="6537960" y="3749040"/>
            <a:ext cx="365760" cy="365760"/>
          </a:xfrm>
          <a:prstGeom prst="rect">
            <a:avLst/>
          </a:prstGeom>
          <a:noFill/>
          <a:ln/>
        </p:spPr>
        <p:txBody>
          <a:bodyPr wrap="square" lIns="0" tIns="0" rIns="0" bIns="0" rtlCol="0" anchor="ctr"/>
          <a:lstStyle/>
          <a:p>
            <a:pPr algn="l" indent="0" marL="0">
              <a:buNone/>
            </a:pPr>
            <a:r>
              <a:rPr lang="en-US" sz="1500" b="1" dirty="0">
                <a:solidFill>
                  <a:srgbClr val="0ECB81"/>
                </a:solidFill>
                <a:latin typeface="Calibri" pitchFamily="34" charset="0"/>
                <a:ea typeface="Calibri" pitchFamily="34" charset="-122"/>
                <a:cs typeface="Calibri" pitchFamily="34" charset="-120"/>
              </a:rPr>
              <a:t>✓</a:t>
            </a:r>
            <a:endParaRPr lang="en-US" sz="1500" dirty="0"/>
          </a:p>
        </p:txBody>
      </p:sp>
      <p:sp>
        <p:nvSpPr>
          <p:cNvPr id="24" name="Text 22"/>
          <p:cNvSpPr txBox="1"/>
          <p:nvPr/>
        </p:nvSpPr>
        <p:spPr>
          <a:xfrm>
            <a:off x="6949440" y="374904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Every argument shown in plain language</a:t>
            </a:r>
            <a:endParaRPr lang="en-US" sz="1400" dirty="0"/>
          </a:p>
        </p:txBody>
      </p:sp>
      <p:sp>
        <p:nvSpPr>
          <p:cNvPr id="25" name="Text 23"/>
          <p:cNvSpPr txBox="1"/>
          <p:nvPr/>
        </p:nvSpPr>
        <p:spPr>
          <a:xfrm>
            <a:off x="6537960" y="4297680"/>
            <a:ext cx="365760" cy="365760"/>
          </a:xfrm>
          <a:prstGeom prst="rect">
            <a:avLst/>
          </a:prstGeom>
          <a:noFill/>
          <a:ln/>
        </p:spPr>
        <p:txBody>
          <a:bodyPr wrap="square" lIns="0" tIns="0" rIns="0" bIns="0" rtlCol="0" anchor="ctr"/>
          <a:lstStyle/>
          <a:p>
            <a:pPr algn="l" indent="0" marL="0">
              <a:buNone/>
            </a:pPr>
            <a:r>
              <a:rPr lang="en-US" sz="1500" b="1" dirty="0">
                <a:solidFill>
                  <a:srgbClr val="0ECB81"/>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6949440" y="429768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Hard rules enforced by code, not the model</a:t>
            </a:r>
            <a:endParaRPr lang="en-US" sz="1400" dirty="0"/>
          </a:p>
        </p:txBody>
      </p:sp>
      <p:sp>
        <p:nvSpPr>
          <p:cNvPr id="27" name="Text 25"/>
          <p:cNvSpPr txBox="1"/>
          <p:nvPr/>
        </p:nvSpPr>
        <p:spPr>
          <a:xfrm>
            <a:off x="6537960" y="4846320"/>
            <a:ext cx="365760" cy="365760"/>
          </a:xfrm>
          <a:prstGeom prst="rect">
            <a:avLst/>
          </a:prstGeom>
          <a:noFill/>
          <a:ln/>
        </p:spPr>
        <p:txBody>
          <a:bodyPr wrap="square" lIns="0" tIns="0" rIns="0" bIns="0" rtlCol="0" anchor="ctr"/>
          <a:lstStyle/>
          <a:p>
            <a:pPr algn="l" indent="0" marL="0">
              <a:buNone/>
            </a:pPr>
            <a:r>
              <a:rPr lang="en-US" sz="1500" b="1" dirty="0">
                <a:solidFill>
                  <a:srgbClr val="0ECB81"/>
                </a:solidFill>
                <a:latin typeface="Calibri" pitchFamily="34" charset="0"/>
                <a:ea typeface="Calibri" pitchFamily="34" charset="-122"/>
                <a:cs typeface="Calibri" pitchFamily="34" charset="-120"/>
              </a:rPr>
              <a:t>✓</a:t>
            </a:r>
            <a:endParaRPr lang="en-US" sz="1500" dirty="0"/>
          </a:p>
        </p:txBody>
      </p:sp>
      <p:sp>
        <p:nvSpPr>
          <p:cNvPr id="28" name="Text 26"/>
          <p:cNvSpPr txBox="1"/>
          <p:nvPr/>
        </p:nvSpPr>
        <p:spPr>
          <a:xfrm>
            <a:off x="6949440" y="484632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Signed, tamper-evident record</a:t>
            </a:r>
            <a:endParaRPr lang="en-US" sz="1400" dirty="0"/>
          </a:p>
        </p:txBody>
      </p:sp>
      <p:sp>
        <p:nvSpPr>
          <p:cNvPr id="29" name="Text 27"/>
          <p:cNvSpPr txBox="1"/>
          <p:nvPr/>
        </p:nvSpPr>
        <p:spPr>
          <a:xfrm>
            <a:off x="6537960" y="5394960"/>
            <a:ext cx="365760" cy="365760"/>
          </a:xfrm>
          <a:prstGeom prst="rect">
            <a:avLst/>
          </a:prstGeom>
          <a:noFill/>
          <a:ln/>
        </p:spPr>
        <p:txBody>
          <a:bodyPr wrap="square" lIns="0" tIns="0" rIns="0" bIns="0" rtlCol="0" anchor="ctr"/>
          <a:lstStyle/>
          <a:p>
            <a:pPr algn="l" indent="0" marL="0">
              <a:buNone/>
            </a:pPr>
            <a:r>
              <a:rPr lang="en-US" sz="1500" b="1" dirty="0">
                <a:solidFill>
                  <a:srgbClr val="0ECB81"/>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6949440" y="5394960"/>
            <a:ext cx="4572000" cy="457200"/>
          </a:xfrm>
          <a:prstGeom prst="rect">
            <a:avLst/>
          </a:prstGeom>
          <a:noFill/>
          <a:ln/>
        </p:spPr>
        <p:txBody>
          <a:bodyPr wrap="square" lIns="0" tIns="0" rIns="0" bIns="0" rtlCol="0" anchor="ctr"/>
          <a:lstStyle/>
          <a:p>
            <a:pPr algn="l" indent="0" marL="0">
              <a:buNone/>
            </a:pPr>
            <a:r>
              <a:rPr lang="en-US" sz="1400" dirty="0">
                <a:solidFill>
                  <a:srgbClr val="EAECEF"/>
                </a:solidFill>
                <a:latin typeface="Calibri" pitchFamily="34" charset="0"/>
                <a:ea typeface="Calibri" pitchFamily="34" charset="-122"/>
                <a:cs typeface="Calibri" pitchFamily="34" charset="-120"/>
              </a:rPr>
              <a:t>“Verify what it did” — from genesis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IT’S REAL, NOT A MOCK-UP</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12</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800" b="1" dirty="0">
                <a:solidFill>
                  <a:srgbClr val="EAECEF"/>
                </a:solidFill>
                <a:latin typeface="Calibri" pitchFamily="34" charset="0"/>
                <a:ea typeface="Calibri" pitchFamily="34" charset="-122"/>
                <a:cs typeface="Calibri" pitchFamily="34" charset="-120"/>
              </a:rPr>
              <a:t>Built, tested, and running on live data.</a:t>
            </a:r>
            <a:endParaRPr lang="en-US" sz="3800" dirty="0"/>
          </a:p>
        </p:txBody>
      </p:sp>
      <p:sp>
        <p:nvSpPr>
          <p:cNvPr id="6" name="Shape 4"/>
          <p:cNvSpPr/>
          <p:nvPr/>
        </p:nvSpPr>
        <p:spPr>
          <a:xfrm>
            <a:off x="502920" y="1783080"/>
            <a:ext cx="2651760" cy="1737360"/>
          </a:xfrm>
          <a:prstGeom prst="roundRect">
            <a:avLst>
              <a:gd name="adj" fmla="val 6316"/>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502920" y="1965960"/>
            <a:ext cx="2651760" cy="868680"/>
          </a:xfrm>
          <a:prstGeom prst="rect">
            <a:avLst/>
          </a:prstGeom>
          <a:noFill/>
          <a:ln/>
        </p:spPr>
        <p:txBody>
          <a:bodyPr wrap="square" lIns="0" tIns="0" rIns="0" bIns="0" rtlCol="0" anchor="ctr"/>
          <a:lstStyle/>
          <a:p>
            <a:pPr algn="ctr" indent="0" marL="0">
              <a:buNone/>
            </a:pPr>
            <a:r>
              <a:rPr lang="en-US" sz="5200" b="1" dirty="0">
                <a:solidFill>
                  <a:srgbClr val="FCD535"/>
                </a:solidFill>
                <a:latin typeface="Calibri" pitchFamily="34" charset="0"/>
                <a:ea typeface="Calibri" pitchFamily="34" charset="-122"/>
                <a:cs typeface="Calibri" pitchFamily="34" charset="-120"/>
              </a:rPr>
              <a:t>200+</a:t>
            </a:r>
            <a:endParaRPr lang="en-US" sz="5200" dirty="0"/>
          </a:p>
        </p:txBody>
      </p:sp>
      <p:sp>
        <p:nvSpPr>
          <p:cNvPr id="8" name="Text 6"/>
          <p:cNvSpPr txBox="1"/>
          <p:nvPr/>
        </p:nvSpPr>
        <p:spPr>
          <a:xfrm>
            <a:off x="640080" y="2852928"/>
            <a:ext cx="2377440" cy="594360"/>
          </a:xfrm>
          <a:prstGeom prst="rect">
            <a:avLst/>
          </a:prstGeom>
          <a:noFill/>
          <a:ln/>
        </p:spPr>
        <p:txBody>
          <a:bodyPr wrap="square" lIns="0" tIns="0" rIns="0" bIns="0" rtlCol="0" anchor="t"/>
          <a:lstStyle/>
          <a:p>
            <a:pPr algn="ctr" indent="0" marL="0">
              <a:lnSpc>
                <a:spcPct val="105000"/>
              </a:lnSpc>
              <a:buNone/>
            </a:pPr>
            <a:r>
              <a:rPr lang="en-US" sz="1250" dirty="0">
                <a:solidFill>
                  <a:srgbClr val="AEB6C0"/>
                </a:solidFill>
                <a:latin typeface="Calibri" pitchFamily="34" charset="0"/>
                <a:ea typeface="Calibri" pitchFamily="34" charset="-122"/>
                <a:cs typeface="Calibri" pitchFamily="34" charset="-120"/>
              </a:rPr>
              <a:t>automated tests passing</a:t>
            </a:r>
            <a:endParaRPr lang="en-US" sz="1250" dirty="0"/>
          </a:p>
        </p:txBody>
      </p:sp>
      <p:sp>
        <p:nvSpPr>
          <p:cNvPr id="9" name="Shape 7"/>
          <p:cNvSpPr/>
          <p:nvPr/>
        </p:nvSpPr>
        <p:spPr>
          <a:xfrm>
            <a:off x="3364992" y="1783080"/>
            <a:ext cx="2651760" cy="1737360"/>
          </a:xfrm>
          <a:prstGeom prst="roundRect">
            <a:avLst>
              <a:gd name="adj" fmla="val 6316"/>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0" name="Text 8"/>
          <p:cNvSpPr txBox="1"/>
          <p:nvPr/>
        </p:nvSpPr>
        <p:spPr>
          <a:xfrm>
            <a:off x="3364992" y="1965960"/>
            <a:ext cx="2651760" cy="868680"/>
          </a:xfrm>
          <a:prstGeom prst="rect">
            <a:avLst/>
          </a:prstGeom>
          <a:noFill/>
          <a:ln/>
        </p:spPr>
        <p:txBody>
          <a:bodyPr wrap="square" lIns="0" tIns="0" rIns="0" bIns="0" rtlCol="0" anchor="ctr"/>
          <a:lstStyle/>
          <a:p>
            <a:pPr algn="ctr" indent="0" marL="0">
              <a:buNone/>
            </a:pPr>
            <a:r>
              <a:rPr lang="en-US" sz="5200" b="1" dirty="0">
                <a:solidFill>
                  <a:srgbClr val="FCD535"/>
                </a:solidFill>
                <a:latin typeface="Calibri" pitchFamily="34" charset="0"/>
                <a:ea typeface="Calibri" pitchFamily="34" charset="-122"/>
                <a:cs typeface="Calibri" pitchFamily="34" charset="-120"/>
              </a:rPr>
              <a:t>17</a:t>
            </a:r>
            <a:endParaRPr lang="en-US" sz="5200" dirty="0"/>
          </a:p>
        </p:txBody>
      </p:sp>
      <p:sp>
        <p:nvSpPr>
          <p:cNvPr id="11" name="Text 9"/>
          <p:cNvSpPr txBox="1"/>
          <p:nvPr/>
        </p:nvSpPr>
        <p:spPr>
          <a:xfrm>
            <a:off x="3502152" y="2852928"/>
            <a:ext cx="2377440" cy="594360"/>
          </a:xfrm>
          <a:prstGeom prst="rect">
            <a:avLst/>
          </a:prstGeom>
          <a:noFill/>
          <a:ln/>
        </p:spPr>
        <p:txBody>
          <a:bodyPr wrap="square" lIns="0" tIns="0" rIns="0" bIns="0" rtlCol="0" anchor="t"/>
          <a:lstStyle/>
          <a:p>
            <a:pPr algn="ctr" indent="0" marL="0">
              <a:lnSpc>
                <a:spcPct val="105000"/>
              </a:lnSpc>
              <a:buNone/>
            </a:pPr>
            <a:r>
              <a:rPr lang="en-US" sz="1250" dirty="0">
                <a:solidFill>
                  <a:srgbClr val="AEB6C0"/>
                </a:solidFill>
                <a:latin typeface="Calibri" pitchFamily="34" charset="0"/>
                <a:ea typeface="Calibri" pitchFamily="34" charset="-122"/>
                <a:cs typeface="Calibri" pitchFamily="34" charset="-120"/>
              </a:rPr>
              <a:t>hard safety rules enforced</a:t>
            </a:r>
            <a:endParaRPr lang="en-US" sz="1250" dirty="0"/>
          </a:p>
        </p:txBody>
      </p:sp>
      <p:sp>
        <p:nvSpPr>
          <p:cNvPr id="12" name="Shape 10"/>
          <p:cNvSpPr/>
          <p:nvPr/>
        </p:nvSpPr>
        <p:spPr>
          <a:xfrm>
            <a:off x="6227064" y="1783080"/>
            <a:ext cx="2651760" cy="1737360"/>
          </a:xfrm>
          <a:prstGeom prst="roundRect">
            <a:avLst>
              <a:gd name="adj" fmla="val 6316"/>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3" name="Text 11"/>
          <p:cNvSpPr txBox="1"/>
          <p:nvPr/>
        </p:nvSpPr>
        <p:spPr>
          <a:xfrm>
            <a:off x="6227064" y="1965960"/>
            <a:ext cx="2651760" cy="868680"/>
          </a:xfrm>
          <a:prstGeom prst="rect">
            <a:avLst/>
          </a:prstGeom>
          <a:noFill/>
          <a:ln/>
        </p:spPr>
        <p:txBody>
          <a:bodyPr wrap="square" lIns="0" tIns="0" rIns="0" bIns="0" rtlCol="0" anchor="ctr"/>
          <a:lstStyle/>
          <a:p>
            <a:pPr algn="ctr" indent="0" marL="0">
              <a:buNone/>
            </a:pPr>
            <a:r>
              <a:rPr lang="en-US" sz="5200" b="1" dirty="0">
                <a:solidFill>
                  <a:srgbClr val="FCD535"/>
                </a:solidFill>
                <a:latin typeface="Calibri" pitchFamily="34" charset="0"/>
                <a:ea typeface="Calibri" pitchFamily="34" charset="-122"/>
                <a:cs typeface="Calibri" pitchFamily="34" charset="-120"/>
              </a:rPr>
              <a:t>5</a:t>
            </a:r>
            <a:endParaRPr lang="en-US" sz="5200" dirty="0"/>
          </a:p>
        </p:txBody>
      </p:sp>
      <p:sp>
        <p:nvSpPr>
          <p:cNvPr id="14" name="Text 12"/>
          <p:cNvSpPr txBox="1"/>
          <p:nvPr/>
        </p:nvSpPr>
        <p:spPr>
          <a:xfrm>
            <a:off x="6364224" y="2852928"/>
            <a:ext cx="2377440" cy="594360"/>
          </a:xfrm>
          <a:prstGeom prst="rect">
            <a:avLst/>
          </a:prstGeom>
          <a:noFill/>
          <a:ln/>
        </p:spPr>
        <p:txBody>
          <a:bodyPr wrap="square" lIns="0" tIns="0" rIns="0" bIns="0" rtlCol="0" anchor="t"/>
          <a:lstStyle/>
          <a:p>
            <a:pPr algn="ctr" indent="0" marL="0">
              <a:lnSpc>
                <a:spcPct val="105000"/>
              </a:lnSpc>
              <a:buNone/>
            </a:pPr>
            <a:r>
              <a:rPr lang="en-US" sz="1250" dirty="0">
                <a:solidFill>
                  <a:srgbClr val="AEB6C0"/>
                </a:solidFill>
                <a:latin typeface="Calibri" pitchFamily="34" charset="0"/>
                <a:ea typeface="Calibri" pitchFamily="34" charset="-122"/>
                <a:cs typeface="Calibri" pitchFamily="34" charset="-120"/>
              </a:rPr>
              <a:t>independent AI analysts</a:t>
            </a:r>
            <a:endParaRPr lang="en-US" sz="1250" dirty="0"/>
          </a:p>
        </p:txBody>
      </p:sp>
      <p:sp>
        <p:nvSpPr>
          <p:cNvPr id="15" name="Shape 13"/>
          <p:cNvSpPr/>
          <p:nvPr/>
        </p:nvSpPr>
        <p:spPr>
          <a:xfrm>
            <a:off x="9089136" y="1783080"/>
            <a:ext cx="2651760" cy="1737360"/>
          </a:xfrm>
          <a:prstGeom prst="roundRect">
            <a:avLst>
              <a:gd name="adj" fmla="val 6316"/>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16" name="Text 14"/>
          <p:cNvSpPr txBox="1"/>
          <p:nvPr/>
        </p:nvSpPr>
        <p:spPr>
          <a:xfrm>
            <a:off x="9089136" y="1965960"/>
            <a:ext cx="2651760" cy="868680"/>
          </a:xfrm>
          <a:prstGeom prst="rect">
            <a:avLst/>
          </a:prstGeom>
          <a:noFill/>
          <a:ln/>
        </p:spPr>
        <p:txBody>
          <a:bodyPr wrap="square" lIns="0" tIns="0" rIns="0" bIns="0" rtlCol="0" anchor="ctr"/>
          <a:lstStyle/>
          <a:p>
            <a:pPr algn="ctr" indent="0" marL="0">
              <a:buNone/>
            </a:pPr>
            <a:r>
              <a:rPr lang="en-US" sz="5200" b="1" dirty="0">
                <a:solidFill>
                  <a:srgbClr val="FCD535"/>
                </a:solidFill>
                <a:latin typeface="Calibri" pitchFamily="34" charset="0"/>
                <a:ea typeface="Calibri" pitchFamily="34" charset="-122"/>
                <a:cs typeface="Calibri" pitchFamily="34" charset="-120"/>
              </a:rPr>
              <a:t>10</a:t>
            </a:r>
            <a:endParaRPr lang="en-US" sz="5200" dirty="0"/>
          </a:p>
        </p:txBody>
      </p:sp>
      <p:sp>
        <p:nvSpPr>
          <p:cNvPr id="17" name="Text 15"/>
          <p:cNvSpPr txBox="1"/>
          <p:nvPr/>
        </p:nvSpPr>
        <p:spPr>
          <a:xfrm>
            <a:off x="9226296" y="2852928"/>
            <a:ext cx="2377440" cy="594360"/>
          </a:xfrm>
          <a:prstGeom prst="rect">
            <a:avLst/>
          </a:prstGeom>
          <a:noFill/>
          <a:ln/>
        </p:spPr>
        <p:txBody>
          <a:bodyPr wrap="square" lIns="0" tIns="0" rIns="0" bIns="0" rtlCol="0" anchor="t"/>
          <a:lstStyle/>
          <a:p>
            <a:pPr algn="ctr" indent="0" marL="0">
              <a:lnSpc>
                <a:spcPct val="105000"/>
              </a:lnSpc>
              <a:buNone/>
            </a:pPr>
            <a:r>
              <a:rPr lang="en-US" sz="1250" dirty="0">
                <a:solidFill>
                  <a:srgbClr val="AEB6C0"/>
                </a:solidFill>
                <a:latin typeface="Calibri" pitchFamily="34" charset="0"/>
                <a:ea typeface="Calibri" pitchFamily="34" charset="-122"/>
                <a:cs typeface="Calibri" pitchFamily="34" charset="-120"/>
              </a:rPr>
              <a:t>blockchains supported</a:t>
            </a:r>
            <a:endParaRPr lang="en-US" sz="1250" dirty="0"/>
          </a:p>
        </p:txBody>
      </p:sp>
      <p:sp>
        <p:nvSpPr>
          <p:cNvPr id="18" name="Shape 16"/>
          <p:cNvSpPr/>
          <p:nvPr/>
        </p:nvSpPr>
        <p:spPr>
          <a:xfrm>
            <a:off x="502920" y="3794760"/>
            <a:ext cx="6675120" cy="2286000"/>
          </a:xfrm>
          <a:prstGeom prst="roundRect">
            <a:avLst>
              <a:gd name="adj" fmla="val 4000"/>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9" name="Image 0" descr="/home/claude/work/glassbox/docs/screenshots/02-drills-passing.png">    </p:cNvPr>
          <p:cNvPicPr>
            <a:picLocks noChangeAspect="1"/>
          </p:cNvPicPr>
          <p:nvPr/>
        </p:nvPicPr>
        <p:blipFill>
          <a:blip r:embed="rId1"/>
          <a:srcRect l="0" r="0" t="0" b="0"/>
          <a:stretch/>
        </p:blipFill>
        <p:spPr>
          <a:xfrm>
            <a:off x="576072" y="3867912"/>
            <a:ext cx="6528816" cy="2139696"/>
          </a:xfrm>
          <a:prstGeom prst="rect">
            <a:avLst/>
          </a:prstGeom>
        </p:spPr>
      </p:pic>
      <p:sp>
        <p:nvSpPr>
          <p:cNvPr id="20" name="Shape 17"/>
          <p:cNvSpPr/>
          <p:nvPr/>
        </p:nvSpPr>
        <p:spPr>
          <a:xfrm>
            <a:off x="7406640" y="3794760"/>
            <a:ext cx="4297680" cy="2286000"/>
          </a:xfrm>
          <a:prstGeom prst="roundRect">
            <a:avLst>
              <a:gd name="adj" fmla="val 4800"/>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21" name="Text 18"/>
          <p:cNvSpPr txBox="1"/>
          <p:nvPr/>
        </p:nvSpPr>
        <p:spPr>
          <a:xfrm>
            <a:off x="7680960" y="3959352"/>
            <a:ext cx="3749040" cy="320040"/>
          </a:xfrm>
          <a:prstGeom prst="rect">
            <a:avLst/>
          </a:prstGeom>
          <a:noFill/>
          <a:ln/>
        </p:spPr>
        <p:txBody>
          <a:bodyPr wrap="square" lIns="0" tIns="0" rIns="0" bIns="0" rtlCol="0" anchor="ctr"/>
          <a:lstStyle/>
          <a:p>
            <a:pPr algn="l" indent="0" marL="0">
              <a:buNone/>
            </a:pPr>
            <a:r>
              <a:rPr lang="en-US" sz="1300" b="1" dirty="0">
                <a:solidFill>
                  <a:srgbClr val="FCD535"/>
                </a:solidFill>
                <a:latin typeface="Calibri" pitchFamily="34" charset="0"/>
                <a:ea typeface="Calibri" pitchFamily="34" charset="-122"/>
                <a:cs typeface="Calibri" pitchFamily="34" charset="-120"/>
              </a:rPr>
              <a:t>What that means</a:t>
            </a:r>
            <a:endParaRPr lang="en-US" sz="1300" dirty="0"/>
          </a:p>
        </p:txBody>
      </p:sp>
      <p:sp>
        <p:nvSpPr>
          <p:cNvPr id="22" name="Text 19"/>
          <p:cNvSpPr txBox="1"/>
          <p:nvPr/>
        </p:nvSpPr>
        <p:spPr>
          <a:xfrm>
            <a:off x="7680960" y="4315968"/>
            <a:ext cx="3749040" cy="1645920"/>
          </a:xfrm>
          <a:prstGeom prst="rect">
            <a:avLst/>
          </a:prstGeom>
          <a:noFill/>
          <a:ln/>
        </p:spPr>
        <p:txBody>
          <a:bodyPr wrap="square" lIns="0" tIns="0" rIns="0" bIns="0" rtlCol="0" anchor="t"/>
          <a:lstStyle/>
          <a:p>
            <a:pPr algn="l" indent="0" marL="0">
              <a:lnSpc>
                <a:spcPct val="118000"/>
              </a:lnSpc>
              <a:buNone/>
            </a:pPr>
            <a:r>
              <a:rPr lang="en-US" sz="1350" dirty="0">
                <a:solidFill>
                  <a:srgbClr val="AEB6C0"/>
                </a:solidFill>
                <a:latin typeface="Calibri" pitchFamily="34" charset="0"/>
                <a:ea typeface="Calibri" pitchFamily="34" charset="-122"/>
                <a:cs typeface="Calibri" pitchFamily="34" charset="-120"/>
              </a:rPr>
              <a:t>The safety story isn’t a promise on a slide. The crash response, the rule blocks and the tamper-checks all run as tests and on-demand drills you can trigger from a button — and pass.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YOUR LANGUAGE</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13</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300" b="1" dirty="0">
                <a:solidFill>
                  <a:srgbClr val="EAECEF"/>
                </a:solidFill>
                <a:latin typeface="Calibri" pitchFamily="34" charset="0"/>
                <a:ea typeface="Calibri" pitchFamily="34" charset="-122"/>
                <a:cs typeface="Calibri" pitchFamily="34" charset="-120"/>
              </a:rPr>
              <a:t>The whole dashboard, in your language.</a:t>
            </a:r>
            <a:endParaRPr lang="en-US" sz="3300" dirty="0"/>
          </a:p>
        </p:txBody>
      </p:sp>
      <p:sp>
        <p:nvSpPr>
          <p:cNvPr id="6" name="Text 4"/>
          <p:cNvSpPr txBox="1"/>
          <p:nvPr/>
        </p:nvSpPr>
        <p:spPr>
          <a:xfrm>
            <a:off x="502920" y="1645920"/>
            <a:ext cx="5212080" cy="2286000"/>
          </a:xfrm>
          <a:prstGeom prst="rect">
            <a:avLst/>
          </a:prstGeom>
          <a:noFill/>
          <a:ln/>
        </p:spPr>
        <p:txBody>
          <a:bodyPr wrap="square" lIns="0" tIns="0" rIns="0" bIns="0" rtlCol="0" anchor="ctr"/>
          <a:lstStyle/>
          <a:p>
            <a:pPr algn="l" indent="0" marL="0">
              <a:lnSpc>
                <a:spcPct val="122000"/>
              </a:lnSpc>
              <a:buNone/>
            </a:pPr>
            <a:r>
              <a:rPr lang="en-US" sz="1500" dirty="0">
                <a:solidFill>
                  <a:srgbClr val="AEB6C0"/>
                </a:solidFill>
                <a:latin typeface="Calibri" pitchFamily="34" charset="0"/>
                <a:ea typeface="Calibri" pitchFamily="34" charset="-122"/>
                <a:cs typeface="Calibri" pitchFamily="34" charset="-120"/>
              </a:rPr>
              <a:t>Not just the menu — every panel, control, status line and empty state reads in the language you pick, and the analyst answers your questions in it too. Eight languages ship today, including non-Latin and right-to-left scripts, switched live from the left rail with no reload.</a:t>
            </a:r>
            <a:endParaRPr lang="en-US" sz="1500" dirty="0"/>
          </a:p>
        </p:txBody>
      </p:sp>
      <p:sp>
        <p:nvSpPr>
          <p:cNvPr id="7" name="Text 5"/>
          <p:cNvSpPr txBox="1"/>
          <p:nvPr/>
        </p:nvSpPr>
        <p:spPr>
          <a:xfrm>
            <a:off x="502920" y="3840480"/>
            <a:ext cx="5212080" cy="457200"/>
          </a:xfrm>
          <a:prstGeom prst="rect">
            <a:avLst/>
          </a:prstGeom>
          <a:noFill/>
          <a:ln/>
        </p:spPr>
        <p:txBody>
          <a:bodyPr wrap="square" lIns="0" tIns="0" rIns="0" bIns="0" rtlCol="0" anchor="ctr"/>
          <a:lstStyle/>
          <a:p>
            <a:pPr algn="l" indent="0" marL="0">
              <a:lnSpc>
                <a:spcPct val="120000"/>
              </a:lnSpc>
              <a:buNone/>
            </a:pPr>
            <a:r>
              <a:rPr lang="en-US" sz="1300" dirty="0">
                <a:solidFill>
                  <a:srgbClr val="FCD535"/>
                </a:solidFill>
                <a:latin typeface="Calibri" pitchFamily="34" charset="0"/>
                <a:ea typeface="Calibri" pitchFamily="34" charset="-122"/>
                <a:cs typeface="Calibri" pitchFamily="34" charset="-120"/>
              </a:rPr>
              <a:t>中文 · العربية · हिन्दी · Русский · Español · Français · Português · English</a:t>
            </a:r>
            <a:endParaRPr lang="en-US" sz="1300" dirty="0"/>
          </a:p>
        </p:txBody>
      </p:sp>
      <p:sp>
        <p:nvSpPr>
          <p:cNvPr id="8" name="Shape 6"/>
          <p:cNvSpPr/>
          <p:nvPr/>
        </p:nvSpPr>
        <p:spPr>
          <a:xfrm>
            <a:off x="502920" y="4343400"/>
            <a:ext cx="5212080" cy="1737360"/>
          </a:xfrm>
          <a:prstGeom prst="roundRect">
            <a:avLst>
              <a:gd name="adj" fmla="val 6316"/>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9" name="Text 7"/>
          <p:cNvSpPr txBox="1"/>
          <p:nvPr/>
        </p:nvSpPr>
        <p:spPr>
          <a:xfrm>
            <a:off x="777240" y="4480560"/>
            <a:ext cx="4572000" cy="320040"/>
          </a:xfrm>
          <a:prstGeom prst="rect">
            <a:avLst/>
          </a:prstGeom>
          <a:noFill/>
          <a:ln/>
        </p:spPr>
        <p:txBody>
          <a:bodyPr wrap="square" lIns="0" tIns="0" rIns="0" bIns="0" rtlCol="0" anchor="ctr"/>
          <a:lstStyle/>
          <a:p>
            <a:pPr algn="l" indent="0" marL="0">
              <a:buNone/>
            </a:pPr>
            <a:r>
              <a:rPr lang="en-US" sz="1300" b="1" dirty="0">
                <a:solidFill>
                  <a:srgbClr val="FCD535"/>
                </a:solidFill>
                <a:latin typeface="Calibri" pitchFamily="34" charset="0"/>
                <a:ea typeface="Calibri" pitchFamily="34" charset="-122"/>
                <a:cs typeface="Calibri" pitchFamily="34" charset="-120"/>
              </a:rPr>
              <a:t>How it works</a:t>
            </a:r>
            <a:endParaRPr lang="en-US" sz="1300" dirty="0"/>
          </a:p>
        </p:txBody>
      </p:sp>
      <p:sp>
        <p:nvSpPr>
          <p:cNvPr id="10" name="Text 8"/>
          <p:cNvSpPr txBox="1"/>
          <p:nvPr/>
        </p:nvSpPr>
        <p:spPr>
          <a:xfrm>
            <a:off x="777240" y="4846320"/>
            <a:ext cx="4663440" cy="1188720"/>
          </a:xfrm>
          <a:prstGeom prst="rect">
            <a:avLst/>
          </a:prstGeom>
          <a:noFill/>
          <a:ln/>
        </p:spPr>
        <p:txBody>
          <a:bodyPr wrap="square" lIns="0" tIns="0" rIns="0" bIns="0" rtlCol="0" anchor="t"/>
          <a:lstStyle/>
          <a:p>
            <a:pPr algn="l" indent="0" marL="0">
              <a:lnSpc>
                <a:spcPct val="115000"/>
              </a:lnSpc>
              <a:buNone/>
            </a:pPr>
            <a:r>
              <a:rPr lang="en-US" sz="1300" b="1" dirty="0">
                <a:solidFill>
                  <a:srgbClr val="EAECEF"/>
                </a:solidFill>
                <a:latin typeface="Calibri" pitchFamily="34" charset="0"/>
                <a:ea typeface="Calibri" pitchFamily="34" charset="-122"/>
                <a:cs typeface="Calibri" pitchFamily="34" charset="-120"/>
              </a:rPr>
              <a:t>It translates the interface's own text and re-applies on every render — </a:t>
            </a:r>
            <a:pPr algn="l" indent="0" marL="0">
              <a:lnSpc>
                <a:spcPct val="115000"/>
              </a:lnSpc>
              <a:buNone/>
            </a:pPr>
            <a:r>
              <a:rPr lang="en-US" sz="1300" dirty="0">
                <a:solidFill>
                  <a:srgbClr val="AEB6C0"/>
                </a:solidFill>
                <a:latin typeface="Calibri" pitchFamily="34" charset="0"/>
                <a:ea typeface="Calibri" pitchFamily="34" charset="-122"/>
                <a:cs typeface="Calibri" pitchFamily="34" charset="-120"/>
              </a:rPr>
              <a:t>so panels the agent draws on the fly are covered too. Live prices, tickers and the analyst's numbers stay exactly as they are.</a:t>
            </a:r>
            <a:endParaRPr lang="en-US" sz="1300" dirty="0"/>
          </a:p>
        </p:txBody>
      </p:sp>
      <p:sp>
        <p:nvSpPr>
          <p:cNvPr id="11" name="Shape 9"/>
          <p:cNvSpPr/>
          <p:nvPr/>
        </p:nvSpPr>
        <p:spPr>
          <a:xfrm>
            <a:off x="5989320" y="1874520"/>
            <a:ext cx="5715000" cy="4206240"/>
          </a:xfrm>
          <a:prstGeom prst="roundRect">
            <a:avLst>
              <a:gd name="adj" fmla="val 2174"/>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2" name="Image 0" descr="/home/claude/work/glassbox/docs/screenshots/11-multilingual-chinese.png">    </p:cNvPr>
          <p:cNvPicPr>
            <a:picLocks noChangeAspect="1"/>
          </p:cNvPicPr>
          <p:nvPr/>
        </p:nvPicPr>
        <p:blipFill>
          <a:blip r:embed="rId1"/>
          <a:srcRect l="0" r="0" t="0" b="0"/>
          <a:stretch/>
        </p:blipFill>
        <p:spPr>
          <a:xfrm>
            <a:off x="6062472" y="1947672"/>
            <a:ext cx="5568696" cy="40599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E11"/>
        </a:solidFill>
      </p:bgPr>
    </p:bg>
    <p:spTree>
      <p:nvGrpSpPr>
        <p:cNvPr id="1" name=""/>
        <p:cNvGrpSpPr/>
        <p:nvPr/>
      </p:nvGrpSpPr>
      <p:grpSpPr>
        <a:xfrm>
          <a:off x="0" y="0"/>
          <a:ext cx="0" cy="0"/>
          <a:chOff x="0" y="0"/>
          <a:chExt cx="0" cy="0"/>
        </a:xfrm>
      </p:grpSpPr>
      <p:sp>
        <p:nvSpPr>
          <p:cNvPr id="2" name="Text 0"/>
          <p:cNvSpPr txBox="1"/>
          <p:nvPr/>
        </p:nvSpPr>
        <p:spPr>
          <a:xfrm>
            <a:off x="502920" y="457200"/>
            <a:ext cx="8229600" cy="320040"/>
          </a:xfrm>
          <a:prstGeom prst="rect">
            <a:avLst/>
          </a:prstGeom>
          <a:noFill/>
          <a:ln/>
        </p:spPr>
        <p:txBody>
          <a:bodyPr wrap="square" lIns="0" tIns="0" rIns="0" bIns="0" rtlCol="0" anchor="ctr"/>
          <a:lstStyle/>
          <a:p>
            <a:pPr algn="l" indent="0" marL="0">
              <a:buNone/>
            </a:pPr>
            <a:r>
              <a:rPr lang="en-US" sz="1300" b="1" spc="200" kern="0" dirty="0">
                <a:solidFill>
                  <a:srgbClr val="FCD535"/>
                </a:solidFill>
                <a:latin typeface="Calibri" pitchFamily="34" charset="0"/>
                <a:ea typeface="Calibri" pitchFamily="34" charset="-122"/>
                <a:cs typeface="Calibri" pitchFamily="34" charset="-120"/>
              </a:rPr>
              <a:t>FEATURE · PAYMENTS &amp; ON-CHAIN</a:t>
            </a:r>
            <a:endParaRPr lang="en-US" sz="1300" dirty="0"/>
          </a:p>
        </p:txBody>
      </p:sp>
      <p:sp>
        <p:nvSpPr>
          <p:cNvPr id="3" name="Text 1"/>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900" b="1" dirty="0">
                <a:solidFill>
                  <a:srgbClr val="FCD535"/>
                </a:solidFill>
                <a:latin typeface="Calibri" pitchFamily="34" charset="0"/>
                <a:ea typeface="Calibri" pitchFamily="34" charset="-122"/>
                <a:cs typeface="Calibri" pitchFamily="34" charset="-120"/>
              </a:rPr>
              <a:t>GlassBox</a:t>
            </a:r>
            <a:pPr algn="l" indent="0" marL="0">
              <a:buNone/>
            </a:pPr>
            <a:r>
              <a:rPr lang="en-US" sz="900" dirty="0">
                <a:solidFill>
                  <a:srgbClr val="7A828C"/>
                </a:solidFill>
                <a:latin typeface="Calibri" pitchFamily="34" charset="0"/>
                <a:ea typeface="Calibri" pitchFamily="34" charset="-122"/>
                <a:cs typeface="Calibri" pitchFamily="34" charset="-120"/>
              </a:rPr>
              <a:t>   ·   risk-first crypto trading agent</a:t>
            </a:r>
            <a:endParaRPr lang="en-US" sz="900" dirty="0"/>
          </a:p>
        </p:txBody>
      </p:sp>
      <p:sp>
        <p:nvSpPr>
          <p:cNvPr id="4" name="Text 2"/>
          <p:cNvSpPr txBox="1"/>
          <p:nvPr/>
        </p:nvSpPr>
        <p:spPr>
          <a:xfrm>
            <a:off x="11231575" y="6400800"/>
            <a:ext cx="457200" cy="274320"/>
          </a:xfrm>
          <a:prstGeom prst="rect">
            <a:avLst/>
          </a:prstGeom>
          <a:noFill/>
          <a:ln/>
        </p:spPr>
        <p:txBody>
          <a:bodyPr wrap="square" lIns="0" tIns="0" rIns="0" bIns="0" rtlCol="0" anchor="ctr"/>
          <a:lstStyle/>
          <a:p>
            <a:pPr algn="r" indent="0" marL="0">
              <a:buNone/>
            </a:pPr>
            <a:r>
              <a:rPr lang="en-US" sz="900" dirty="0">
                <a:solidFill>
                  <a:srgbClr val="7A828C"/>
                </a:solidFill>
                <a:latin typeface="Calibri" pitchFamily="34" charset="0"/>
                <a:ea typeface="Calibri" pitchFamily="34" charset="-122"/>
                <a:cs typeface="Calibri" pitchFamily="34" charset="-120"/>
              </a:rPr>
              <a:t>14</a:t>
            </a:r>
            <a:endParaRPr lang="en-US" sz="900" dirty="0"/>
          </a:p>
        </p:txBody>
      </p:sp>
      <p:sp>
        <p:nvSpPr>
          <p:cNvPr id="5" name="Text 3"/>
          <p:cNvSpPr txBox="1"/>
          <p:nvPr/>
        </p:nvSpPr>
        <p:spPr>
          <a:xfrm>
            <a:off x="502920" y="822960"/>
            <a:ext cx="11155680" cy="914400"/>
          </a:xfrm>
          <a:prstGeom prst="rect">
            <a:avLst/>
          </a:prstGeom>
          <a:noFill/>
          <a:ln/>
        </p:spPr>
        <p:txBody>
          <a:bodyPr wrap="square" lIns="0" tIns="0" rIns="0" bIns="0" rtlCol="0" anchor="ctr"/>
          <a:lstStyle/>
          <a:p>
            <a:pPr algn="l" indent="0" marL="0">
              <a:lnSpc>
                <a:spcPct val="100000"/>
              </a:lnSpc>
              <a:buNone/>
            </a:pPr>
            <a:r>
              <a:rPr lang="en-US" sz="3000" b="1" dirty="0">
                <a:solidFill>
                  <a:srgbClr val="EAECEF"/>
                </a:solidFill>
                <a:latin typeface="Calibri" pitchFamily="34" charset="0"/>
                <a:ea typeface="Calibri" pitchFamily="34" charset="-122"/>
                <a:cs typeface="Calibri" pitchFamily="34" charset="-120"/>
              </a:rPr>
              <a:t>Agent payments and on-chain actions — screened, then signed.</a:t>
            </a:r>
            <a:endParaRPr lang="en-US" sz="3000" dirty="0"/>
          </a:p>
        </p:txBody>
      </p:sp>
      <p:sp>
        <p:nvSpPr>
          <p:cNvPr id="6" name="Text 4"/>
          <p:cNvSpPr txBox="1"/>
          <p:nvPr/>
        </p:nvSpPr>
        <p:spPr>
          <a:xfrm>
            <a:off x="502920" y="1691640"/>
            <a:ext cx="5212080" cy="2377440"/>
          </a:xfrm>
          <a:prstGeom prst="rect">
            <a:avLst/>
          </a:prstGeom>
          <a:noFill/>
          <a:ln/>
        </p:spPr>
        <p:txBody>
          <a:bodyPr wrap="square" lIns="0" tIns="0" rIns="0" bIns="0" rtlCol="0" anchor="ctr"/>
          <a:lstStyle/>
          <a:p>
            <a:pPr algn="l" indent="0" marL="0">
              <a:lnSpc>
                <a:spcPct val="122000"/>
              </a:lnSpc>
              <a:buNone/>
            </a:pPr>
            <a:r>
              <a:rPr lang="en-US" sz="1500" dirty="0">
                <a:solidFill>
                  <a:srgbClr val="AEB6C0"/>
                </a:solidFill>
                <a:latin typeface="Calibri" pitchFamily="34" charset="0"/>
                <a:ea typeface="Calibri" pitchFamily="34" charset="-122"/>
                <a:cs typeface="Calibri" pitchFamily="34" charset="-120"/>
              </a:rPr>
              <a:t>Beyond trading, the agent can pay another agent or service in USDC, and stake, unstake, claim or swap on-chain — the two remaining competition workflow categories. Every action passes a spending policy first, then lands on the same tamper-evident ledger as everything else, with a signed receipt.</a:t>
            </a:r>
            <a:endParaRPr lang="en-US" sz="1500" dirty="0"/>
          </a:p>
        </p:txBody>
      </p:sp>
      <p:sp>
        <p:nvSpPr>
          <p:cNvPr id="7" name="Shape 5"/>
          <p:cNvSpPr/>
          <p:nvPr/>
        </p:nvSpPr>
        <p:spPr>
          <a:xfrm>
            <a:off x="502920" y="4206240"/>
            <a:ext cx="5212080" cy="1874520"/>
          </a:xfrm>
          <a:prstGeom prst="roundRect">
            <a:avLst>
              <a:gd name="adj" fmla="val 5854"/>
            </a:avLst>
          </a:prstGeom>
          <a:solidFill>
            <a:srgbClr val="1E2329"/>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777240" y="4361688"/>
            <a:ext cx="4572000" cy="320040"/>
          </a:xfrm>
          <a:prstGeom prst="rect">
            <a:avLst/>
          </a:prstGeom>
          <a:noFill/>
          <a:ln/>
        </p:spPr>
        <p:txBody>
          <a:bodyPr wrap="square" lIns="0" tIns="0" rIns="0" bIns="0" rtlCol="0" anchor="ctr"/>
          <a:lstStyle/>
          <a:p>
            <a:pPr algn="l" indent="0" marL="0">
              <a:buNone/>
            </a:pPr>
            <a:r>
              <a:rPr lang="en-US" sz="1300" b="1" dirty="0">
                <a:solidFill>
                  <a:srgbClr val="0ECB81"/>
                </a:solidFill>
                <a:latin typeface="Calibri" pitchFamily="34" charset="0"/>
                <a:ea typeface="Calibri" pitchFamily="34" charset="-122"/>
                <a:cs typeface="Calibri" pitchFamily="34" charset="-120"/>
              </a:rPr>
              <a:t>Honest scope</a:t>
            </a:r>
            <a:endParaRPr lang="en-US" sz="1300" dirty="0"/>
          </a:p>
        </p:txBody>
      </p:sp>
      <p:sp>
        <p:nvSpPr>
          <p:cNvPr id="9" name="Text 7"/>
          <p:cNvSpPr txBox="1"/>
          <p:nvPr/>
        </p:nvSpPr>
        <p:spPr>
          <a:xfrm>
            <a:off x="777240" y="4727448"/>
            <a:ext cx="4663440" cy="1280160"/>
          </a:xfrm>
          <a:prstGeom prst="rect">
            <a:avLst/>
          </a:prstGeom>
          <a:noFill/>
          <a:ln/>
        </p:spPr>
        <p:txBody>
          <a:bodyPr wrap="square" lIns="0" tIns="0" rIns="0" bIns="0" rtlCol="0" anchor="t"/>
          <a:lstStyle/>
          <a:p>
            <a:pPr algn="l" indent="0" marL="0">
              <a:lnSpc>
                <a:spcPct val="115000"/>
              </a:lnSpc>
              <a:buNone/>
            </a:pPr>
            <a:r>
              <a:rPr lang="en-US" sz="1350" b="1" dirty="0">
                <a:solidFill>
                  <a:srgbClr val="EAECEF"/>
                </a:solidFill>
                <a:latin typeface="Calibri" pitchFamily="34" charset="0"/>
                <a:ea typeface="Calibri" pitchFamily="34" charset="-122"/>
                <a:cs typeface="Calibri" pitchFamily="34" charset="-120"/>
              </a:rPr>
              <a:t>A paper wallet on testnet by default. </a:t>
            </a:r>
            <a:pPr algn="l" indent="0" marL="0">
              <a:lnSpc>
                <a:spcPct val="115000"/>
              </a:lnSpc>
              <a:buNone/>
            </a:pPr>
            <a:r>
              <a:rPr lang="en-US" sz="1350" dirty="0">
                <a:solidFill>
                  <a:srgbClr val="AEB6C0"/>
                </a:solidFill>
                <a:latin typeface="Calibri" pitchFamily="34" charset="0"/>
                <a:ea typeface="Calibri" pitchFamily="34" charset="-122"/>
                <a:cs typeface="Calibri" pitchFamily="34" charset="-120"/>
              </a:rPr>
              <a:t>The workflow and its governance are real and auditable; no mainnet funds move — consistent with GlassBox running paper-first everywhere.</a:t>
            </a:r>
            <a:endParaRPr lang="en-US" sz="1350" dirty="0"/>
          </a:p>
        </p:txBody>
      </p:sp>
      <p:sp>
        <p:nvSpPr>
          <p:cNvPr id="10" name="Shape 8"/>
          <p:cNvSpPr/>
          <p:nvPr/>
        </p:nvSpPr>
        <p:spPr>
          <a:xfrm>
            <a:off x="5989320" y="1874520"/>
            <a:ext cx="5715000" cy="4206240"/>
          </a:xfrm>
          <a:prstGeom prst="roundRect">
            <a:avLst>
              <a:gd name="adj" fmla="val 2174"/>
            </a:avLst>
          </a:prstGeom>
          <a:solidFill>
            <a:srgbClr val="0E1116"/>
          </a:solidFill>
          <a:ln w="12700">
            <a:solidFill>
              <a:srgbClr val="2B3139"/>
            </a:solidFill>
            <a:prstDash val="solid"/>
          </a:ln>
          <a:effectLst>
            <a:outerShdw sx="100000" sy="100000" kx="0" ky="0" algn="bl" rotWithShape="0" blurRad="101600" dist="38100" dir="5400000">
              <a:srgbClr val="000000">
                <a:alpha val="35000"/>
              </a:srgbClr>
            </a:outerShdw>
          </a:effectLst>
        </p:spPr>
      </p:sp>
      <p:pic>
        <p:nvPicPr>
          <p:cNvPr id="11" name="Image 0" descr="/home/claude/work/glassbox/docs/screenshots/10-onchain-staking-pay.png">    </p:cNvPr>
          <p:cNvPicPr>
            <a:picLocks noChangeAspect="1"/>
          </p:cNvPicPr>
          <p:nvPr/>
        </p:nvPicPr>
        <p:blipFill>
          <a:blip r:embed="rId1"/>
          <a:srcRect l="0" r="0" t="0" b="0"/>
          <a:stretch/>
        </p:blipFill>
        <p:spPr>
          <a:xfrm>
            <a:off x="6062472" y="1947672"/>
            <a:ext cx="5568696" cy="40599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E11"/>
        </a:solidFill>
      </p:bgPr>
    </p:bg>
    <p:spTree>
      <p:nvGrpSpPr>
        <p:cNvPr id="1" name=""/>
        <p:cNvGrpSpPr/>
        <p:nvPr/>
      </p:nvGrpSpPr>
      <p:grpSpPr>
        <a:xfrm>
          <a:off x="0" y="0"/>
          <a:ext cx="0" cy="0"/>
          <a:chOff x="0" y="0"/>
          <a:chExt cx="0" cy="0"/>
        </a:xfrm>
      </p:grpSpPr>
      <p:sp>
        <p:nvSpPr>
          <p:cNvPr id="2" name="Shape 0"/>
          <p:cNvSpPr/>
          <p:nvPr/>
        </p:nvSpPr>
        <p:spPr>
          <a:xfrm rot="2700000">
            <a:off x="457200" y="1234440"/>
            <a:ext cx="548640" cy="548640"/>
          </a:xfrm>
          <a:prstGeom prst="ellipse">
            <a:avLst/>
          </a:prstGeom>
          <a:solidFill>
            <a:srgbClr val="FCD535"/>
          </a:solidFill>
          <a:ln/>
        </p:spPr>
      </p:sp>
      <p:sp>
        <p:nvSpPr>
          <p:cNvPr id="3" name="Text 1"/>
          <p:cNvSpPr txBox="1"/>
          <p:nvPr/>
        </p:nvSpPr>
        <p:spPr>
          <a:xfrm>
            <a:off x="502920" y="2057400"/>
            <a:ext cx="10789920" cy="1463040"/>
          </a:xfrm>
          <a:prstGeom prst="rect">
            <a:avLst/>
          </a:prstGeom>
          <a:noFill/>
          <a:ln/>
        </p:spPr>
        <p:txBody>
          <a:bodyPr wrap="square" lIns="0" tIns="0" rIns="0" bIns="0" rtlCol="0" anchor="ctr"/>
          <a:lstStyle/>
          <a:p>
            <a:pPr algn="l" indent="0" marL="0">
              <a:lnSpc>
                <a:spcPct val="105000"/>
              </a:lnSpc>
              <a:buNone/>
            </a:pPr>
            <a:r>
              <a:rPr lang="en-US" sz="4000" b="1" dirty="0">
                <a:solidFill>
                  <a:srgbClr val="EAECEF"/>
                </a:solidFill>
                <a:latin typeface="Calibri" pitchFamily="34" charset="0"/>
                <a:ea typeface="Calibri" pitchFamily="34" charset="-122"/>
                <a:cs typeface="Calibri" pitchFamily="34" charset="-120"/>
              </a:rPr>
              <a:t>Trust is the missing piece for autonomous trading.</a:t>
            </a:r>
            <a:endParaRPr lang="en-US" sz="4000" dirty="0"/>
          </a:p>
        </p:txBody>
      </p:sp>
      <p:sp>
        <p:nvSpPr>
          <p:cNvPr id="4" name="Text 2"/>
          <p:cNvSpPr txBox="1"/>
          <p:nvPr/>
        </p:nvSpPr>
        <p:spPr>
          <a:xfrm>
            <a:off x="502920" y="3611880"/>
            <a:ext cx="10058400" cy="822960"/>
          </a:xfrm>
          <a:prstGeom prst="rect">
            <a:avLst/>
          </a:prstGeom>
          <a:noFill/>
          <a:ln/>
        </p:spPr>
        <p:txBody>
          <a:bodyPr wrap="square" lIns="0" tIns="0" rIns="0" bIns="0" rtlCol="0" anchor="ctr"/>
          <a:lstStyle/>
          <a:p>
            <a:pPr algn="l" indent="0" marL="0">
              <a:lnSpc>
                <a:spcPct val="115000"/>
              </a:lnSpc>
              <a:buNone/>
            </a:pPr>
            <a:r>
              <a:rPr lang="en-US" sz="1800" dirty="0">
                <a:solidFill>
                  <a:srgbClr val="FCD535"/>
                </a:solidFill>
                <a:latin typeface="Calibri" pitchFamily="34" charset="0"/>
                <a:ea typeface="Calibri" pitchFamily="34" charset="-122"/>
                <a:cs typeface="Calibri" pitchFamily="34" charset="-120"/>
              </a:rPr>
              <a:t>GlassBox ships it — visible reasoning, unbreakable rules, and a signed record, on real Binance data.</a:t>
            </a:r>
            <a:endParaRPr lang="en-US" sz="1800" dirty="0"/>
          </a:p>
        </p:txBody>
      </p:sp>
      <p:sp>
        <p:nvSpPr>
          <p:cNvPr id="5" name="Shape 3"/>
          <p:cNvSpPr/>
          <p:nvPr/>
        </p:nvSpPr>
        <p:spPr>
          <a:xfrm>
            <a:off x="502920" y="4709160"/>
            <a:ext cx="11201400" cy="1234440"/>
          </a:xfrm>
          <a:prstGeom prst="roundRect">
            <a:avLst>
              <a:gd name="adj" fmla="val 8889"/>
            </a:avLst>
          </a:prstGeom>
          <a:solidFill>
            <a:srgbClr val="161A20"/>
          </a:solidFill>
          <a:ln w="12700">
            <a:solidFill>
              <a:srgbClr val="2B3139"/>
            </a:solidFill>
            <a:prstDash val="solid"/>
          </a:ln>
          <a:effectLst>
            <a:outerShdw sx="100000" sy="100000" kx="0" ky="0" algn="bl" rotWithShape="0" blurRad="101600" dist="38100" dir="5400000">
              <a:srgbClr val="000000">
                <a:alpha val="35000"/>
              </a:srgbClr>
            </a:outerShdw>
          </a:effectLst>
        </p:spPr>
      </p:sp>
      <p:sp>
        <p:nvSpPr>
          <p:cNvPr id="6" name="Text 4"/>
          <p:cNvSpPr txBox="1"/>
          <p:nvPr/>
        </p:nvSpPr>
        <p:spPr>
          <a:xfrm>
            <a:off x="822960" y="4983480"/>
            <a:ext cx="1060704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EAECEF"/>
                </a:solidFill>
                <a:latin typeface="Calibri" pitchFamily="34" charset="0"/>
                <a:ea typeface="Calibri" pitchFamily="34" charset="-122"/>
                <a:cs typeface="Calibri" pitchFamily="34" charset="-120"/>
              </a:rPr>
              <a:t>Try it in one step:   </a:t>
            </a:r>
            <a:pPr algn="l" indent="0" marL="0">
              <a:lnSpc>
                <a:spcPct val="115000"/>
              </a:lnSpc>
              <a:buNone/>
            </a:pPr>
            <a:r>
              <a:rPr lang="en-US" sz="1450" dirty="0">
                <a:solidFill>
                  <a:srgbClr val="AEB6C0"/>
                </a:solidFill>
                <a:latin typeface="Calibri" pitchFamily="34" charset="0"/>
                <a:ea typeface="Calibri" pitchFamily="34" charset="-122"/>
                <a:cs typeface="Calibri" pitchFamily="34" charset="-120"/>
              </a:rPr>
              <a:t>unzip → double-click START.bat → open the dashboard. It runs in safe paper mode by default; turn on live Binance data with one toggle.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2026-09-07T13:51:38Z</dcterms:created>
  <dcterms:modified xsi:type="dcterms:W3CDTF">2026-09-07T13:51:38Z</dcterms:modified>
</cp:coreProperties>
</file>